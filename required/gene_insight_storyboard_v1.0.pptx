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3" r:id="rId9"/>
    <p:sldId id="266" r:id="rId10"/>
    <p:sldId id="267" r:id="rId11"/>
    <p:sldId id="268" r:id="rId12"/>
    <p:sldId id="261" r:id="rId13"/>
    <p:sldId id="262" r:id="rId14"/>
  </p:sldIdLst>
  <p:sldSz cx="12192000" cy="6858000"/>
  <p:notesSz cx="6805613" cy="9939338"/>
  <p:embeddedFontLst>
    <p:embeddedFont>
      <p:font typeface="맑은 고딕" panose="020B0503020000020004" pitchFamily="50" charset="-127"/>
      <p:regular r:id="rId16"/>
      <p:bold r:id="rId17"/>
    </p:embeddedFont>
    <p:embeddedFont>
      <p:font typeface="Quattrocento Sans" panose="020B0600000101010101" charset="0"/>
      <p:regular r:id="rId18"/>
      <p:bold r:id="rId19"/>
      <p:italic r:id="rId20"/>
      <p:boldItalic r:id="rId21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bUCCrx9S6N+Ji9iRv0g5awiu8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6EACA0-F0CC-4CC7-8EF1-4C8A09502556}">
  <a:tblStyle styleId="{886EACA0-F0CC-4CC7-8EF1-4C8A09502556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2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60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0646"/>
            <a:ext cx="2949099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204349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0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0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:notes"/>
          <p:cNvSpPr txBox="1">
            <a:spLocks noGrp="1"/>
          </p:cNvSpPr>
          <p:nvPr>
            <p:ph type="body" idx="1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ms.lascience.co.kr/snp_patient_list_new.ph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ims.lascience.co.kr/snp_patient_list_new.ph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ims.lascience.co.kr/snp_patient_list_new.ph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ms.lascience.co.kr/snp_patient_list_new.ph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ms.lascience.co.kr/snp_patient_list_new.ph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ms.lascience.co.kr/snp_patient_list_new.ph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geneinfo@las.k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8"/>
          <p:cNvSpPr/>
          <p:nvPr/>
        </p:nvSpPr>
        <p:spPr>
          <a:xfrm>
            <a:off x="3029639" y="2268632"/>
            <a:ext cx="5515845" cy="2935136"/>
          </a:xfrm>
          <a:prstGeom prst="rect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8"/>
          <p:cNvSpPr/>
          <p:nvPr/>
        </p:nvSpPr>
        <p:spPr>
          <a:xfrm>
            <a:off x="3925468" y="2819709"/>
            <a:ext cx="208112" cy="191948"/>
          </a:xfrm>
          <a:custGeom>
            <a:avLst/>
            <a:gdLst/>
            <a:ahLst/>
            <a:cxnLst/>
            <a:rect l="l" t="t" r="r" b="b"/>
            <a:pathLst>
              <a:path w="672" h="624" extrusionOk="0">
                <a:moveTo>
                  <a:pt x="266" y="0"/>
                </a:moveTo>
                <a:cubicBezTo>
                  <a:pt x="204" y="1"/>
                  <a:pt x="164" y="27"/>
                  <a:pt x="147" y="66"/>
                </a:cubicBezTo>
                <a:cubicBezTo>
                  <a:pt x="131" y="103"/>
                  <a:pt x="134" y="150"/>
                  <a:pt x="146" y="199"/>
                </a:cubicBezTo>
                <a:cubicBezTo>
                  <a:pt x="140" y="206"/>
                  <a:pt x="135" y="216"/>
                  <a:pt x="137" y="231"/>
                </a:cubicBezTo>
                <a:lnTo>
                  <a:pt x="137" y="231"/>
                </a:lnTo>
                <a:cubicBezTo>
                  <a:pt x="139" y="248"/>
                  <a:pt x="143" y="259"/>
                  <a:pt x="150" y="267"/>
                </a:cubicBezTo>
                <a:cubicBezTo>
                  <a:pt x="153" y="272"/>
                  <a:pt x="158" y="272"/>
                  <a:pt x="162" y="274"/>
                </a:cubicBezTo>
                <a:cubicBezTo>
                  <a:pt x="164" y="288"/>
                  <a:pt x="168" y="302"/>
                  <a:pt x="174" y="314"/>
                </a:cubicBezTo>
                <a:cubicBezTo>
                  <a:pt x="177" y="321"/>
                  <a:pt x="181" y="327"/>
                  <a:pt x="185" y="332"/>
                </a:cubicBezTo>
                <a:cubicBezTo>
                  <a:pt x="186" y="334"/>
                  <a:pt x="189" y="335"/>
                  <a:pt x="191" y="337"/>
                </a:cubicBezTo>
                <a:cubicBezTo>
                  <a:pt x="191" y="354"/>
                  <a:pt x="191" y="367"/>
                  <a:pt x="190" y="385"/>
                </a:cubicBezTo>
                <a:cubicBezTo>
                  <a:pt x="185" y="395"/>
                  <a:pt x="175" y="404"/>
                  <a:pt x="159" y="412"/>
                </a:cubicBezTo>
                <a:cubicBezTo>
                  <a:pt x="142" y="420"/>
                  <a:pt x="120" y="428"/>
                  <a:pt x="97" y="437"/>
                </a:cubicBezTo>
                <a:cubicBezTo>
                  <a:pt x="75" y="447"/>
                  <a:pt x="52" y="459"/>
                  <a:pt x="34" y="477"/>
                </a:cubicBezTo>
                <a:cubicBezTo>
                  <a:pt x="16" y="495"/>
                  <a:pt x="3" y="521"/>
                  <a:pt x="1" y="554"/>
                </a:cubicBezTo>
                <a:lnTo>
                  <a:pt x="0" y="568"/>
                </a:lnTo>
                <a:lnTo>
                  <a:pt x="401" y="568"/>
                </a:lnTo>
                <a:cubicBezTo>
                  <a:pt x="419" y="568"/>
                  <a:pt x="419" y="541"/>
                  <a:pt x="401" y="541"/>
                </a:cubicBezTo>
                <a:lnTo>
                  <a:pt x="31" y="541"/>
                </a:lnTo>
                <a:cubicBezTo>
                  <a:pt x="35" y="523"/>
                  <a:pt x="42" y="507"/>
                  <a:pt x="53" y="496"/>
                </a:cubicBezTo>
                <a:cubicBezTo>
                  <a:pt x="67" y="482"/>
                  <a:pt x="87" y="471"/>
                  <a:pt x="108" y="462"/>
                </a:cubicBezTo>
                <a:cubicBezTo>
                  <a:pt x="129" y="453"/>
                  <a:pt x="151" y="446"/>
                  <a:pt x="170" y="436"/>
                </a:cubicBezTo>
                <a:cubicBezTo>
                  <a:pt x="190" y="426"/>
                  <a:pt x="208" y="414"/>
                  <a:pt x="215" y="393"/>
                </a:cubicBezTo>
                <a:lnTo>
                  <a:pt x="216" y="391"/>
                </a:lnTo>
                <a:lnTo>
                  <a:pt x="216" y="390"/>
                </a:lnTo>
                <a:cubicBezTo>
                  <a:pt x="218" y="367"/>
                  <a:pt x="217" y="352"/>
                  <a:pt x="217" y="332"/>
                </a:cubicBezTo>
                <a:lnTo>
                  <a:pt x="217" y="324"/>
                </a:lnTo>
                <a:lnTo>
                  <a:pt x="210" y="321"/>
                </a:lnTo>
                <a:cubicBezTo>
                  <a:pt x="211" y="321"/>
                  <a:pt x="209" y="319"/>
                  <a:pt x="206" y="316"/>
                </a:cubicBezTo>
                <a:cubicBezTo>
                  <a:pt x="204" y="313"/>
                  <a:pt x="201" y="308"/>
                  <a:pt x="198" y="302"/>
                </a:cubicBezTo>
                <a:cubicBezTo>
                  <a:pt x="192" y="291"/>
                  <a:pt x="188" y="277"/>
                  <a:pt x="186" y="266"/>
                </a:cubicBezTo>
                <a:lnTo>
                  <a:pt x="185" y="255"/>
                </a:lnTo>
                <a:lnTo>
                  <a:pt x="174" y="254"/>
                </a:lnTo>
                <a:cubicBezTo>
                  <a:pt x="174" y="254"/>
                  <a:pt x="173" y="254"/>
                  <a:pt x="170" y="251"/>
                </a:cubicBezTo>
                <a:cubicBezTo>
                  <a:pt x="168" y="248"/>
                  <a:pt x="165" y="241"/>
                  <a:pt x="163" y="228"/>
                </a:cubicBezTo>
                <a:cubicBezTo>
                  <a:pt x="161" y="222"/>
                  <a:pt x="165" y="217"/>
                  <a:pt x="167" y="213"/>
                </a:cubicBezTo>
                <a:lnTo>
                  <a:pt x="176" y="208"/>
                </a:lnTo>
                <a:lnTo>
                  <a:pt x="173" y="199"/>
                </a:lnTo>
                <a:cubicBezTo>
                  <a:pt x="161" y="150"/>
                  <a:pt x="159" y="106"/>
                  <a:pt x="172" y="77"/>
                </a:cubicBezTo>
                <a:cubicBezTo>
                  <a:pt x="185" y="47"/>
                  <a:pt x="211" y="28"/>
                  <a:pt x="267" y="27"/>
                </a:cubicBezTo>
                <a:cubicBezTo>
                  <a:pt x="294" y="27"/>
                  <a:pt x="311" y="35"/>
                  <a:pt x="316" y="43"/>
                </a:cubicBezTo>
                <a:lnTo>
                  <a:pt x="319" y="49"/>
                </a:lnTo>
                <a:lnTo>
                  <a:pt x="326" y="50"/>
                </a:lnTo>
                <a:cubicBezTo>
                  <a:pt x="344" y="53"/>
                  <a:pt x="355" y="60"/>
                  <a:pt x="362" y="70"/>
                </a:cubicBezTo>
                <a:cubicBezTo>
                  <a:pt x="370" y="81"/>
                  <a:pt x="374" y="95"/>
                  <a:pt x="375" y="111"/>
                </a:cubicBezTo>
                <a:cubicBezTo>
                  <a:pt x="378" y="143"/>
                  <a:pt x="369" y="180"/>
                  <a:pt x="363" y="198"/>
                </a:cubicBezTo>
                <a:lnTo>
                  <a:pt x="360" y="208"/>
                </a:lnTo>
                <a:lnTo>
                  <a:pt x="369" y="213"/>
                </a:lnTo>
                <a:cubicBezTo>
                  <a:pt x="368" y="213"/>
                  <a:pt x="374" y="217"/>
                  <a:pt x="373" y="228"/>
                </a:cubicBezTo>
                <a:cubicBezTo>
                  <a:pt x="371" y="241"/>
                  <a:pt x="368" y="248"/>
                  <a:pt x="365" y="251"/>
                </a:cubicBezTo>
                <a:cubicBezTo>
                  <a:pt x="363" y="254"/>
                  <a:pt x="362" y="254"/>
                  <a:pt x="361" y="254"/>
                </a:cubicBezTo>
                <a:lnTo>
                  <a:pt x="350" y="255"/>
                </a:lnTo>
                <a:lnTo>
                  <a:pt x="349" y="266"/>
                </a:lnTo>
                <a:cubicBezTo>
                  <a:pt x="348" y="277"/>
                  <a:pt x="343" y="291"/>
                  <a:pt x="338" y="302"/>
                </a:cubicBezTo>
                <a:cubicBezTo>
                  <a:pt x="335" y="308"/>
                  <a:pt x="332" y="313"/>
                  <a:pt x="330" y="316"/>
                </a:cubicBezTo>
                <a:cubicBezTo>
                  <a:pt x="328" y="319"/>
                  <a:pt x="325" y="321"/>
                  <a:pt x="326" y="321"/>
                </a:cubicBezTo>
                <a:lnTo>
                  <a:pt x="319" y="324"/>
                </a:lnTo>
                <a:lnTo>
                  <a:pt x="319" y="332"/>
                </a:lnTo>
                <a:cubicBezTo>
                  <a:pt x="319" y="352"/>
                  <a:pt x="318" y="367"/>
                  <a:pt x="320" y="390"/>
                </a:cubicBezTo>
                <a:lnTo>
                  <a:pt x="320" y="391"/>
                </a:lnTo>
                <a:lnTo>
                  <a:pt x="321" y="393"/>
                </a:lnTo>
                <a:cubicBezTo>
                  <a:pt x="331" y="420"/>
                  <a:pt x="358" y="433"/>
                  <a:pt x="385" y="445"/>
                </a:cubicBezTo>
                <a:cubicBezTo>
                  <a:pt x="413" y="456"/>
                  <a:pt x="443" y="466"/>
                  <a:pt x="466" y="482"/>
                </a:cubicBezTo>
                <a:cubicBezTo>
                  <a:pt x="481" y="492"/>
                  <a:pt x="496" y="470"/>
                  <a:pt x="481" y="460"/>
                </a:cubicBezTo>
                <a:cubicBezTo>
                  <a:pt x="454" y="441"/>
                  <a:pt x="422" y="431"/>
                  <a:pt x="396" y="420"/>
                </a:cubicBezTo>
                <a:cubicBezTo>
                  <a:pt x="370" y="409"/>
                  <a:pt x="353" y="399"/>
                  <a:pt x="347" y="385"/>
                </a:cubicBezTo>
                <a:cubicBezTo>
                  <a:pt x="345" y="367"/>
                  <a:pt x="346" y="354"/>
                  <a:pt x="346" y="337"/>
                </a:cubicBezTo>
                <a:cubicBezTo>
                  <a:pt x="348" y="335"/>
                  <a:pt x="350" y="334"/>
                  <a:pt x="352" y="332"/>
                </a:cubicBezTo>
                <a:cubicBezTo>
                  <a:pt x="355" y="327"/>
                  <a:pt x="359" y="321"/>
                  <a:pt x="362" y="314"/>
                </a:cubicBezTo>
                <a:cubicBezTo>
                  <a:pt x="368" y="302"/>
                  <a:pt x="372" y="288"/>
                  <a:pt x="374" y="274"/>
                </a:cubicBezTo>
                <a:cubicBezTo>
                  <a:pt x="378" y="272"/>
                  <a:pt x="383" y="272"/>
                  <a:pt x="386" y="267"/>
                </a:cubicBezTo>
                <a:cubicBezTo>
                  <a:pt x="393" y="259"/>
                  <a:pt x="397" y="248"/>
                  <a:pt x="399" y="231"/>
                </a:cubicBezTo>
                <a:cubicBezTo>
                  <a:pt x="401" y="217"/>
                  <a:pt x="396" y="207"/>
                  <a:pt x="390" y="199"/>
                </a:cubicBezTo>
                <a:cubicBezTo>
                  <a:pt x="396" y="178"/>
                  <a:pt x="405" y="144"/>
                  <a:pt x="402" y="109"/>
                </a:cubicBezTo>
                <a:cubicBezTo>
                  <a:pt x="400" y="90"/>
                  <a:pt x="396" y="70"/>
                  <a:pt x="384" y="55"/>
                </a:cubicBezTo>
                <a:cubicBezTo>
                  <a:pt x="374" y="40"/>
                  <a:pt x="357" y="30"/>
                  <a:pt x="335" y="26"/>
                </a:cubicBezTo>
                <a:cubicBezTo>
                  <a:pt x="321" y="7"/>
                  <a:pt x="296" y="0"/>
                  <a:pt x="267" y="0"/>
                </a:cubicBezTo>
                <a:lnTo>
                  <a:pt x="266" y="0"/>
                </a:lnTo>
                <a:close/>
                <a:moveTo>
                  <a:pt x="628" y="381"/>
                </a:moveTo>
                <a:cubicBezTo>
                  <a:pt x="618" y="381"/>
                  <a:pt x="608" y="385"/>
                  <a:pt x="600" y="393"/>
                </a:cubicBezTo>
                <a:cubicBezTo>
                  <a:pt x="549" y="444"/>
                  <a:pt x="497" y="496"/>
                  <a:pt x="446" y="547"/>
                </a:cubicBezTo>
                <a:cubicBezTo>
                  <a:pt x="444" y="549"/>
                  <a:pt x="443" y="551"/>
                  <a:pt x="442" y="553"/>
                </a:cubicBezTo>
                <a:lnTo>
                  <a:pt x="428" y="605"/>
                </a:lnTo>
                <a:cubicBezTo>
                  <a:pt x="426" y="615"/>
                  <a:pt x="435" y="624"/>
                  <a:pt x="445" y="621"/>
                </a:cubicBezTo>
                <a:lnTo>
                  <a:pt x="496" y="607"/>
                </a:lnTo>
                <a:cubicBezTo>
                  <a:pt x="498" y="607"/>
                  <a:pt x="500" y="605"/>
                  <a:pt x="502" y="604"/>
                </a:cubicBezTo>
                <a:cubicBezTo>
                  <a:pt x="553" y="552"/>
                  <a:pt x="605" y="501"/>
                  <a:pt x="656" y="449"/>
                </a:cubicBezTo>
                <a:cubicBezTo>
                  <a:pt x="672" y="434"/>
                  <a:pt x="672" y="409"/>
                  <a:pt x="656" y="393"/>
                </a:cubicBezTo>
                <a:cubicBezTo>
                  <a:pt x="648" y="385"/>
                  <a:pt x="638" y="381"/>
                  <a:pt x="628" y="381"/>
                </a:cubicBezTo>
                <a:close/>
                <a:moveTo>
                  <a:pt x="612" y="419"/>
                </a:moveTo>
                <a:lnTo>
                  <a:pt x="631" y="437"/>
                </a:lnTo>
                <a:lnTo>
                  <a:pt x="486" y="582"/>
                </a:lnTo>
                <a:lnTo>
                  <a:pt x="467" y="564"/>
                </a:lnTo>
                <a:lnTo>
                  <a:pt x="612" y="419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90;p38"/>
          <p:cNvSpPr/>
          <p:nvPr/>
        </p:nvSpPr>
        <p:spPr>
          <a:xfrm>
            <a:off x="3898573" y="4294808"/>
            <a:ext cx="3681032" cy="362275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8"/>
          <p:cNvSpPr txBox="1"/>
          <p:nvPr/>
        </p:nvSpPr>
        <p:spPr>
          <a:xfrm>
            <a:off x="4260528" y="1837711"/>
            <a:ext cx="3523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u="none" strike="noStrike" cap="none" smtClean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암만성질환검사 </a:t>
            </a:r>
            <a:r>
              <a:rPr lang="en-US" sz="1800" b="0" i="0" u="none" strike="noStrike" cap="none" dirty="0" err="1" smtClean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800" b="0" i="0" u="none" strike="noStrike" cap="none" dirty="0" smtClean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8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38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/>
          <p:cNvGrpSpPr/>
          <p:nvPr/>
        </p:nvGrpSpPr>
        <p:grpSpPr>
          <a:xfrm>
            <a:off x="3958613" y="3792973"/>
            <a:ext cx="888430" cy="212366"/>
            <a:chOff x="554563" y="2592239"/>
            <a:chExt cx="888430" cy="212366"/>
          </a:xfrm>
        </p:grpSpPr>
        <p:sp>
          <p:nvSpPr>
            <p:cNvPr id="93" name="Google Shape;93;p38"/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4" name="Google Shape;94;p38"/>
            <p:cNvSpPr txBox="1"/>
            <p:nvPr/>
          </p:nvSpPr>
          <p:spPr>
            <a:xfrm>
              <a:off x="686119" y="2592239"/>
              <a:ext cx="756874" cy="212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150" tIns="36575" rIns="73150" bIns="365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아이디 저장</a:t>
              </a: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95" name="Google Shape;95;p38"/>
          <p:cNvCxnSpPr/>
          <p:nvPr/>
        </p:nvCxnSpPr>
        <p:spPr>
          <a:xfrm>
            <a:off x="3910659" y="3038545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38"/>
          <p:cNvCxnSpPr/>
          <p:nvPr/>
        </p:nvCxnSpPr>
        <p:spPr>
          <a:xfrm>
            <a:off x="3919623" y="3558499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7" name="Google Shape;9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0658" y="3264060"/>
            <a:ext cx="240668" cy="240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39"/>
          <p:cNvGraphicFramePr/>
          <p:nvPr/>
        </p:nvGraphicFramePr>
        <p:xfrm>
          <a:off x="1061685" y="1681340"/>
          <a:ext cx="9039025" cy="134987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56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6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7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사용자명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권한구분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메일주소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마지막 접속일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등록일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조회/수정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010-2323-4433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2022-03-10 12:40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2021-01-12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hanht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조회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010-3545-3333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2022-03-11 14:07</a:t>
                      </a:r>
                      <a:endParaRPr sz="900" b="0" i="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2020-11-10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kim-ertr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조회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010-3544-7777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2022-03-11 15:10</a:t>
                      </a:r>
                      <a:endParaRPr sz="900" b="0" i="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2018-05-20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3" name="Google Shape;103;p39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4" name="Google Shape;104;p39"/>
          <p:cNvSpPr/>
          <p:nvPr/>
        </p:nvSpPr>
        <p:spPr>
          <a:xfrm>
            <a:off x="855205" y="917315"/>
            <a:ext cx="16526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9"/>
          <p:cNvSpPr/>
          <p:nvPr/>
        </p:nvSpPr>
        <p:spPr>
          <a:xfrm>
            <a:off x="1275193" y="1808318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39"/>
          <p:cNvSpPr/>
          <p:nvPr/>
        </p:nvSpPr>
        <p:spPr>
          <a:xfrm>
            <a:off x="1275193" y="2141693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39"/>
          <p:cNvSpPr/>
          <p:nvPr/>
        </p:nvSpPr>
        <p:spPr>
          <a:xfrm>
            <a:off x="1275193" y="2456018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8" name="Google Shape;108;p39"/>
          <p:cNvSpPr/>
          <p:nvPr/>
        </p:nvSpPr>
        <p:spPr>
          <a:xfrm>
            <a:off x="8720963" y="1355400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" name="Google Shape;109;p39"/>
          <p:cNvSpPr/>
          <p:nvPr/>
        </p:nvSpPr>
        <p:spPr>
          <a:xfrm>
            <a:off x="9241787" y="1361401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10" name="Google Shape;110;p39"/>
          <p:cNvGrpSpPr/>
          <p:nvPr/>
        </p:nvGrpSpPr>
        <p:grpSpPr>
          <a:xfrm>
            <a:off x="1602515" y="2837853"/>
            <a:ext cx="293098" cy="494786"/>
            <a:chOff x="5294313" y="2197100"/>
            <a:chExt cx="500483" cy="844878"/>
          </a:xfrm>
        </p:grpSpPr>
        <p:sp>
          <p:nvSpPr>
            <p:cNvPr id="111" name="Google Shape;111;p39"/>
            <p:cNvSpPr/>
            <p:nvPr/>
          </p:nvSpPr>
          <p:spPr>
            <a:xfrm>
              <a:off x="5418559" y="2453016"/>
              <a:ext cx="376237" cy="588962"/>
            </a:xfrm>
            <a:custGeom>
              <a:avLst/>
              <a:gdLst/>
              <a:ahLst/>
              <a:cxnLst/>
              <a:rect l="l" t="t" r="r" b="b"/>
              <a:pathLst>
                <a:path w="495" h="773" extrusionOk="0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2" name="Google Shape;112;p39"/>
            <p:cNvSpPr/>
            <p:nvPr/>
          </p:nvSpPr>
          <p:spPr>
            <a:xfrm>
              <a:off x="5294313" y="2197100"/>
              <a:ext cx="307975" cy="231775"/>
            </a:xfrm>
            <a:custGeom>
              <a:avLst/>
              <a:gdLst/>
              <a:ahLst/>
              <a:cxnLst/>
              <a:rect l="l" t="t" r="r" b="b"/>
              <a:pathLst>
                <a:path w="405" h="303" extrusionOk="0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 cmpd="sng">
              <a:solidFill>
                <a:srgbClr val="3483C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13" name="Google Shape;113;p39"/>
          <p:cNvSpPr/>
          <p:nvPr/>
        </p:nvSpPr>
        <p:spPr>
          <a:xfrm>
            <a:off x="1168469" y="1308965"/>
            <a:ext cx="2541032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ID/사용자명</a:t>
            </a:r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9"/>
          <p:cNvSpPr/>
          <p:nvPr/>
        </p:nvSpPr>
        <p:spPr>
          <a:xfrm>
            <a:off x="3761359" y="1323183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9"/>
          <p:cNvSpPr/>
          <p:nvPr/>
        </p:nvSpPr>
        <p:spPr>
          <a:xfrm>
            <a:off x="1294591" y="2774673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22" name="Google Shape;122;p39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1895613" y="3155021"/>
            <a:ext cx="4200387" cy="3575388"/>
            <a:chOff x="1615921" y="1017671"/>
            <a:chExt cx="1439509" cy="1493610"/>
          </a:xfrm>
        </p:grpSpPr>
        <p:sp>
          <p:nvSpPr>
            <p:cNvPr id="123" name="Google Shape;123;p39"/>
            <p:cNvSpPr/>
            <p:nvPr/>
          </p:nvSpPr>
          <p:spPr>
            <a:xfrm>
              <a:off x="1615921" y="1017671"/>
              <a:ext cx="1438275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en-US" sz="1000" b="1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사용자</a:t>
              </a:r>
              <a:r>
                <a:rPr lang="en-US" sz="1000" b="0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r>
                <a:rPr lang="en-US" sz="1000" b="1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추가/수정</a:t>
              </a:r>
              <a:endParaRPr sz="1000" b="1" i="0" u="none" strike="noStrike" cap="non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24" name="Google Shape;124;p39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>
              <a:off x="1617155" y="1150277"/>
              <a:ext cx="1438275" cy="0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25" name="Google Shape;125;p39"/>
          <p:cNvSpPr/>
          <p:nvPr/>
        </p:nvSpPr>
        <p:spPr>
          <a:xfrm>
            <a:off x="4716039" y="6357134"/>
            <a:ext cx="532726" cy="279164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저장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39"/>
          <p:cNvSpPr/>
          <p:nvPr/>
        </p:nvSpPr>
        <p:spPr>
          <a:xfrm>
            <a:off x="5284238" y="6357134"/>
            <a:ext cx="532726" cy="271238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취소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p39"/>
          <p:cNvSpPr txBox="1"/>
          <p:nvPr/>
        </p:nvSpPr>
        <p:spPr>
          <a:xfrm>
            <a:off x="1968375" y="3512493"/>
            <a:ext cx="19399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❖ 사용자를 추가/수정 합니다 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9"/>
          <p:cNvSpPr txBox="1"/>
          <p:nvPr/>
        </p:nvSpPr>
        <p:spPr>
          <a:xfrm>
            <a:off x="2507855" y="3840245"/>
            <a:ext cx="4395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9"/>
          <p:cNvSpPr/>
          <p:nvPr/>
        </p:nvSpPr>
        <p:spPr>
          <a:xfrm>
            <a:off x="3076602" y="3850681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9"/>
          <p:cNvSpPr/>
          <p:nvPr/>
        </p:nvSpPr>
        <p:spPr>
          <a:xfrm>
            <a:off x="3068230" y="4464375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9"/>
          <p:cNvSpPr txBox="1"/>
          <p:nvPr/>
        </p:nvSpPr>
        <p:spPr>
          <a:xfrm>
            <a:off x="2159529" y="4483480"/>
            <a:ext cx="82586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비밀번호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9"/>
          <p:cNvSpPr/>
          <p:nvPr/>
        </p:nvSpPr>
        <p:spPr>
          <a:xfrm>
            <a:off x="3054828" y="4168547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9"/>
          <p:cNvSpPr txBox="1"/>
          <p:nvPr/>
        </p:nvSpPr>
        <p:spPr>
          <a:xfrm>
            <a:off x="2264799" y="4158110"/>
            <a:ext cx="78098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사용자명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9"/>
          <p:cNvSpPr/>
          <p:nvPr/>
        </p:nvSpPr>
        <p:spPr>
          <a:xfrm>
            <a:off x="3055169" y="4782241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9"/>
          <p:cNvSpPr txBox="1"/>
          <p:nvPr/>
        </p:nvSpPr>
        <p:spPr>
          <a:xfrm>
            <a:off x="2007692" y="4801346"/>
            <a:ext cx="103746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비밀번호확인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9"/>
          <p:cNvSpPr txBox="1"/>
          <p:nvPr/>
        </p:nvSpPr>
        <p:spPr>
          <a:xfrm>
            <a:off x="2303206" y="6143430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매뉴권한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9"/>
          <p:cNvSpPr/>
          <p:nvPr/>
        </p:nvSpPr>
        <p:spPr>
          <a:xfrm>
            <a:off x="6551896" y="3165006"/>
            <a:ext cx="4155089" cy="1759450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r>
              <a:rPr lang="en-US" sz="11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삭제</a:t>
            </a:r>
            <a:r>
              <a:rPr lang="en-US" sz="11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조회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수정권한만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전체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삭제가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가능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하고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그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외에는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조회만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가능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하다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본인정보는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수정도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가능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i="0" u="none" strike="noStrike" cap="none" dirty="0" err="1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매뉴권한</a:t>
            </a:r>
            <a:r>
              <a:rPr lang="en-US" sz="1100" b="1" i="0" u="none" strike="noStrike" cap="none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lang="ko-KR" altLang="en-US" sz="1100" i="0" u="none" strike="noStrike" cap="none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기존 </a:t>
            </a:r>
            <a:r>
              <a:rPr lang="en-US" altLang="ko-KR" sz="1100" i="0" u="none" strike="noStrike" cap="none" dirty="0" err="1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HLScience</a:t>
            </a:r>
            <a:r>
              <a:rPr lang="en-US" altLang="ko-KR" sz="1100" i="0" u="none" strike="noStrike" cap="none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100" i="0" u="none" strike="noStrike" cap="none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구성과 동일</a:t>
            </a:r>
            <a:endParaRPr lang="en-US" altLang="ko-KR" sz="1100" i="0" u="none" strike="noStrike" cap="none" dirty="0" smtClean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lvl="0" indent="-171450">
              <a:spcBef>
                <a:spcPts val="1200"/>
              </a:spcBef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거래</a:t>
            </a:r>
            <a:r>
              <a:rPr lang="ko-KR" altLang="en-US" sz="1100" b="1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처</a:t>
            </a:r>
            <a:r>
              <a:rPr lang="en-US" altLang="ko-KR" sz="1100" b="1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lang="ko-KR" altLang="en-US" sz="1100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100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거래처 관리에서 등록한 목록 출력</a:t>
            </a:r>
            <a:endParaRPr lang="en-US" sz="1100" i="0" u="none" strike="noStrike" cap="none" dirty="0" smtClean="0">
              <a:solidFill>
                <a:srgbClr val="5F5F5F"/>
              </a:solidFill>
              <a:latin typeface="+mn-ea"/>
              <a:ea typeface="+mn-ea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9" name="Google Shape;139;p39"/>
          <p:cNvSpPr txBox="1"/>
          <p:nvPr/>
        </p:nvSpPr>
        <p:spPr>
          <a:xfrm>
            <a:off x="2267187" y="5150761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메일주소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9"/>
          <p:cNvSpPr/>
          <p:nvPr/>
        </p:nvSpPr>
        <p:spPr>
          <a:xfrm>
            <a:off x="3074925" y="5135490"/>
            <a:ext cx="2218347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9"/>
          <p:cNvSpPr txBox="1"/>
          <p:nvPr/>
        </p:nvSpPr>
        <p:spPr>
          <a:xfrm>
            <a:off x="7432913" y="414229"/>
            <a:ext cx="123228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139;p39"/>
          <p:cNvSpPr txBox="1"/>
          <p:nvPr/>
        </p:nvSpPr>
        <p:spPr>
          <a:xfrm>
            <a:off x="2114023" y="5494555"/>
            <a:ext cx="101078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관리자구분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140;p39"/>
          <p:cNvSpPr/>
          <p:nvPr/>
        </p:nvSpPr>
        <p:spPr>
          <a:xfrm>
            <a:off x="3067830" y="5478864"/>
            <a:ext cx="2218347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일반사용자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141;p39"/>
          <p:cNvSpPr/>
          <p:nvPr/>
        </p:nvSpPr>
        <p:spPr>
          <a:xfrm>
            <a:off x="5096624" y="5584241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139;p39"/>
          <p:cNvSpPr txBox="1"/>
          <p:nvPr/>
        </p:nvSpPr>
        <p:spPr>
          <a:xfrm>
            <a:off x="2284896" y="5848982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거래처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140;p39"/>
          <p:cNvSpPr/>
          <p:nvPr/>
        </p:nvSpPr>
        <p:spPr>
          <a:xfrm>
            <a:off x="3082001" y="5886876"/>
            <a:ext cx="2218347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141;p39"/>
          <p:cNvSpPr/>
          <p:nvPr/>
        </p:nvSpPr>
        <p:spPr>
          <a:xfrm>
            <a:off x="5110795" y="5938668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21;p39"/>
          <p:cNvSpPr/>
          <p:nvPr/>
        </p:nvSpPr>
        <p:spPr>
          <a:xfrm>
            <a:off x="3074925" y="6255411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0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151" name="Google Shape;151;p40"/>
          <p:cNvGraphicFramePr/>
          <p:nvPr>
            <p:extLst>
              <p:ext uri="{D42A27DB-BD31-4B8C-83A1-F6EECF244321}">
                <p14:modId xmlns:p14="http://schemas.microsoft.com/office/powerpoint/2010/main" val="1968083771"/>
              </p:ext>
            </p:extLst>
          </p:nvPr>
        </p:nvGraphicFramePr>
        <p:xfrm>
          <a:off x="1069763" y="1669800"/>
          <a:ext cx="9699836" cy="1031565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411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7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62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97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17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분류명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분류코드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영문명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평균값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출력순서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검사등록수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사용여부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등록일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암질환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cancer</a:t>
                      </a:r>
                      <a:endParaRPr sz="9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Cancer </a:t>
                      </a:r>
                      <a:r>
                        <a:rPr lang="en-US" sz="900" b="0" i="0" u="none" strike="noStrike" cap="none" dirty="0" err="1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desease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2.02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2023-01-12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만성질환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chronic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Chronic </a:t>
                      </a:r>
                      <a:r>
                        <a:rPr lang="en-US" sz="900" b="0" i="0" u="none" strike="noStrike" cap="none" dirty="0" err="1" smtClean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desease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2022-11-10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2" name="Google Shape;152;p40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3" name="Google Shape;153;p40"/>
          <p:cNvSpPr/>
          <p:nvPr/>
        </p:nvSpPr>
        <p:spPr>
          <a:xfrm>
            <a:off x="855206" y="917315"/>
            <a:ext cx="15408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0"/>
          <p:cNvSpPr/>
          <p:nvPr/>
        </p:nvSpPr>
        <p:spPr>
          <a:xfrm>
            <a:off x="1215924" y="1808318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p40"/>
          <p:cNvSpPr/>
          <p:nvPr/>
        </p:nvSpPr>
        <p:spPr>
          <a:xfrm>
            <a:off x="1215924" y="2141693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p40"/>
          <p:cNvSpPr/>
          <p:nvPr/>
        </p:nvSpPr>
        <p:spPr>
          <a:xfrm>
            <a:off x="1215924" y="2456018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40"/>
          <p:cNvSpPr/>
          <p:nvPr/>
        </p:nvSpPr>
        <p:spPr>
          <a:xfrm>
            <a:off x="8921681" y="1331121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8" name="Google Shape;158;p40"/>
          <p:cNvSpPr/>
          <p:nvPr/>
        </p:nvSpPr>
        <p:spPr>
          <a:xfrm>
            <a:off x="9452588" y="1336127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59" name="Google Shape;159;p40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1046662" y="2822336"/>
            <a:ext cx="7936471" cy="4035664"/>
            <a:chOff x="1615921" y="1017671"/>
            <a:chExt cx="788147" cy="1493610"/>
          </a:xfrm>
        </p:grpSpPr>
        <p:sp>
          <p:nvSpPr>
            <p:cNvPr id="160" name="Google Shape;160;p40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en-US" sz="1000" b="1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검사종류</a:t>
              </a:r>
              <a:r>
                <a:rPr lang="en-US" sz="1000" b="0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r>
                <a:rPr lang="en-US" sz="1000" b="1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추가/수정</a:t>
              </a:r>
              <a:endParaRPr sz="1000" b="1" i="0" u="none" strike="noStrike" cap="non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61" name="Google Shape;161;p40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7155" y="1132997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62" name="Google Shape;162;p40"/>
          <p:cNvSpPr/>
          <p:nvPr/>
        </p:nvSpPr>
        <p:spPr>
          <a:xfrm>
            <a:off x="7071059" y="6514881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저장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40"/>
          <p:cNvSpPr/>
          <p:nvPr/>
        </p:nvSpPr>
        <p:spPr>
          <a:xfrm>
            <a:off x="7647760" y="6531106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취소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40"/>
          <p:cNvSpPr txBox="1"/>
          <p:nvPr/>
        </p:nvSpPr>
        <p:spPr>
          <a:xfrm>
            <a:off x="1202973" y="3509190"/>
            <a:ext cx="82586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분류코드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0"/>
          <p:cNvSpPr/>
          <p:nvPr/>
        </p:nvSpPr>
        <p:spPr>
          <a:xfrm>
            <a:off x="2253547" y="3493187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cancer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0"/>
          <p:cNvSpPr txBox="1"/>
          <p:nvPr/>
        </p:nvSpPr>
        <p:spPr>
          <a:xfrm>
            <a:off x="1268535" y="4435343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사용여부: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0"/>
          <p:cNvSpPr/>
          <p:nvPr/>
        </p:nvSpPr>
        <p:spPr>
          <a:xfrm>
            <a:off x="2259554" y="3877290"/>
            <a:ext cx="219991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0"/>
          <p:cNvSpPr txBox="1"/>
          <p:nvPr/>
        </p:nvSpPr>
        <p:spPr>
          <a:xfrm>
            <a:off x="1199101" y="3868676"/>
            <a:ext cx="77777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영문명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0"/>
          <p:cNvSpPr/>
          <p:nvPr/>
        </p:nvSpPr>
        <p:spPr>
          <a:xfrm>
            <a:off x="9050886" y="3117598"/>
            <a:ext cx="2892706" cy="2162089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조회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수정권한이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있어야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등록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수정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가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가능함</a:t>
            </a: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전체목록이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한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페이지에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전부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출력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페이징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검색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없슴</a:t>
            </a:r>
            <a:r>
              <a:rPr lang="en-US" sz="1100" b="0" i="0" u="none" strike="noStrike" cap="none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dirty="0" smtClean="0">
                <a:solidFill>
                  <a:srgbClr val="5F5F5F"/>
                </a:solidFill>
                <a:latin typeface="Quattrocento Sans"/>
                <a:sym typeface="Quattrocento Sans"/>
              </a:rPr>
              <a:t>유전자 정보는 유전자마스터 정보 에서 조회</a:t>
            </a:r>
            <a:endParaRPr lang="en-US" altLang="ko-KR" sz="1100" dirty="0" smtClean="0">
              <a:solidFill>
                <a:srgbClr val="5F5F5F"/>
              </a:solidFill>
              <a:latin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dirty="0" smtClean="0">
                <a:solidFill>
                  <a:srgbClr val="FF0000"/>
                </a:solidFill>
              </a:rPr>
              <a:t>SNP</a:t>
            </a:r>
            <a:r>
              <a:rPr lang="ko-KR" altLang="en-US" sz="1100" dirty="0" smtClean="0">
                <a:solidFill>
                  <a:srgbClr val="FF0000"/>
                </a:solidFill>
              </a:rPr>
              <a:t>목록에 평균값은 삭제</a:t>
            </a:r>
            <a:endParaRPr sz="1100" dirty="0">
              <a:solidFill>
                <a:srgbClr val="FF0000"/>
              </a:solidFill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40"/>
          <p:cNvSpPr txBox="1"/>
          <p:nvPr/>
        </p:nvSpPr>
        <p:spPr>
          <a:xfrm>
            <a:off x="1290878" y="3246262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분류명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0"/>
          <p:cNvSpPr/>
          <p:nvPr/>
        </p:nvSpPr>
        <p:spPr>
          <a:xfrm>
            <a:off x="2248007" y="3163447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암질환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0"/>
          <p:cNvSpPr/>
          <p:nvPr/>
        </p:nvSpPr>
        <p:spPr>
          <a:xfrm>
            <a:off x="2240157" y="4451036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4263941" y="4495220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40"/>
          <p:cNvGrpSpPr/>
          <p:nvPr/>
        </p:nvGrpSpPr>
        <p:grpSpPr>
          <a:xfrm>
            <a:off x="1873100" y="2423966"/>
            <a:ext cx="293098" cy="494786"/>
            <a:chOff x="5294313" y="2197100"/>
            <a:chExt cx="500483" cy="844878"/>
          </a:xfrm>
        </p:grpSpPr>
        <p:sp>
          <p:nvSpPr>
            <p:cNvPr id="177" name="Google Shape;177;p40"/>
            <p:cNvSpPr/>
            <p:nvPr/>
          </p:nvSpPr>
          <p:spPr>
            <a:xfrm>
              <a:off x="5418559" y="2453016"/>
              <a:ext cx="376237" cy="588962"/>
            </a:xfrm>
            <a:custGeom>
              <a:avLst/>
              <a:gdLst/>
              <a:ahLst/>
              <a:cxnLst/>
              <a:rect l="l" t="t" r="r" b="b"/>
              <a:pathLst>
                <a:path w="495" h="773" extrusionOk="0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8" name="Google Shape;178;p40"/>
            <p:cNvSpPr/>
            <p:nvPr/>
          </p:nvSpPr>
          <p:spPr>
            <a:xfrm>
              <a:off x="5294313" y="2197100"/>
              <a:ext cx="307975" cy="231775"/>
            </a:xfrm>
            <a:custGeom>
              <a:avLst/>
              <a:gdLst/>
              <a:ahLst/>
              <a:cxnLst/>
              <a:rect l="l" t="t" r="r" b="b"/>
              <a:pathLst>
                <a:path w="405" h="303" extrusionOk="0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 cmpd="sng">
              <a:solidFill>
                <a:srgbClr val="3483C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79" name="Google Shape;179;p40"/>
          <p:cNvCxnSpPr/>
          <p:nvPr/>
        </p:nvCxnSpPr>
        <p:spPr>
          <a:xfrm>
            <a:off x="1088830" y="4978389"/>
            <a:ext cx="7496371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0" name="Google Shape;180;p40"/>
          <p:cNvSpPr txBox="1"/>
          <p:nvPr/>
        </p:nvSpPr>
        <p:spPr>
          <a:xfrm>
            <a:off x="1271824" y="5033506"/>
            <a:ext cx="326870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❖ SNP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정보를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수정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합니다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000" b="1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SNP</a:t>
            </a:r>
            <a:r>
              <a:rPr lang="ko-KR" altLang="en-US" sz="1000" b="1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코드는 중복불가</a:t>
            </a:r>
            <a:r>
              <a:rPr lang="en-US" altLang="ko-KR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4971" y="5059912"/>
            <a:ext cx="148558" cy="14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7414164" y="5062975"/>
            <a:ext cx="162586" cy="162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7657602" y="5075783"/>
            <a:ext cx="159391" cy="15939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0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0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0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0"/>
          <p:cNvSpPr txBox="1"/>
          <p:nvPr/>
        </p:nvSpPr>
        <p:spPr>
          <a:xfrm>
            <a:off x="5125552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0"/>
          <p:cNvSpPr/>
          <p:nvPr/>
        </p:nvSpPr>
        <p:spPr>
          <a:xfrm>
            <a:off x="2259549" y="4164545"/>
            <a:ext cx="995344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0"/>
          <p:cNvSpPr txBox="1"/>
          <p:nvPr/>
        </p:nvSpPr>
        <p:spPr>
          <a:xfrm>
            <a:off x="1199095" y="4156548"/>
            <a:ext cx="90601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출력순서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p40"/>
          <p:cNvGraphicFramePr/>
          <p:nvPr>
            <p:extLst>
              <p:ext uri="{D42A27DB-BD31-4B8C-83A1-F6EECF244321}">
                <p14:modId xmlns:p14="http://schemas.microsoft.com/office/powerpoint/2010/main" val="1719296108"/>
              </p:ext>
            </p:extLst>
          </p:nvPr>
        </p:nvGraphicFramePr>
        <p:xfrm>
          <a:off x="1212476" y="5317592"/>
          <a:ext cx="7457390" cy="1110995"/>
        </p:xfrm>
        <a:graphic>
          <a:graphicData uri="http://schemas.openxmlformats.org/drawingml/2006/table">
            <a:tbl>
              <a:tblPr firstRow="1" bandRow="1">
                <a:noFill/>
                <a:tableStyleId>{886EACA0-F0CC-4CC7-8EF1-4C8A09502556}</a:tableStyleId>
              </a:tblPr>
              <a:tblGrid>
                <a:gridCol w="89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95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1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1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5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/>
                        <a:t>검사코드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검사명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유전자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SNP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타입명1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risk1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타입명2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risk2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타입명3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/>
                        <a:t>risk3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출력순서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</a:rPr>
                        <a:t>liver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rgbClr val="595959"/>
                          </a:solidFill>
                        </a:rPr>
                        <a:t>폐암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EDAR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rs3827760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AA</a:t>
                      </a: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1.64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AG</a:t>
                      </a: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1,32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GG</a:t>
                      </a: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1.0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1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u="none" strike="noStrike" cap="none" dirty="0" smtClean="0">
                          <a:solidFill>
                            <a:schemeClr val="dk1"/>
                          </a:solidFill>
                        </a:rPr>
                        <a:t>lung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u="none" strike="noStrike" cap="none" dirty="0" smtClean="0"/>
                        <a:t>간암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CDKN1A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rs1801270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AA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1.50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TA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1.25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TT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1.0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2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/>
                        <a:t>gastric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/>
                        <a:t>위암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Google Shape;175;p40"/>
          <p:cNvSpPr/>
          <p:nvPr/>
        </p:nvSpPr>
        <p:spPr>
          <a:xfrm>
            <a:off x="3493438" y="5646726"/>
            <a:ext cx="124186" cy="7495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175;p40"/>
          <p:cNvSpPr/>
          <p:nvPr/>
        </p:nvSpPr>
        <p:spPr>
          <a:xfrm>
            <a:off x="3493432" y="5875329"/>
            <a:ext cx="124186" cy="7495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175;p40"/>
          <p:cNvSpPr/>
          <p:nvPr/>
        </p:nvSpPr>
        <p:spPr>
          <a:xfrm>
            <a:off x="3493426" y="6129333"/>
            <a:ext cx="124186" cy="7495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142;p39"/>
          <p:cNvSpPr txBox="1"/>
          <p:nvPr/>
        </p:nvSpPr>
        <p:spPr>
          <a:xfrm>
            <a:off x="7432914" y="414229"/>
            <a:ext cx="116253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0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151" name="Google Shape;151;p40"/>
          <p:cNvGraphicFramePr/>
          <p:nvPr>
            <p:extLst>
              <p:ext uri="{D42A27DB-BD31-4B8C-83A1-F6EECF244321}">
                <p14:modId xmlns:p14="http://schemas.microsoft.com/office/powerpoint/2010/main" val="3871394059"/>
              </p:ext>
            </p:extLst>
          </p:nvPr>
        </p:nvGraphicFramePr>
        <p:xfrm>
          <a:off x="1069763" y="1669800"/>
          <a:ext cx="8850132" cy="1031565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411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7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62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17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유전자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정상타입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정상빈도율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위험타입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위험빈도율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등록일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간암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rgbClr val="59595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DPY19L3-DT</a:t>
                      </a:r>
                      <a:endParaRPr sz="9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2023-01-12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폐암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COLEC10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Arial"/>
                          <a:sym typeface="Arial"/>
                        </a:rPr>
                        <a:t>T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2022-11-10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2" name="Google Shape;152;p40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3" name="Google Shape;153;p40"/>
          <p:cNvSpPr/>
          <p:nvPr/>
        </p:nvSpPr>
        <p:spPr>
          <a:xfrm>
            <a:off x="855206" y="917315"/>
            <a:ext cx="15408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</a:t>
            </a:r>
            <a:r>
              <a:rPr lang="ko-KR" alt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유전자관리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0"/>
          <p:cNvSpPr/>
          <p:nvPr/>
        </p:nvSpPr>
        <p:spPr>
          <a:xfrm>
            <a:off x="1215924" y="1808318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p40"/>
          <p:cNvSpPr/>
          <p:nvPr/>
        </p:nvSpPr>
        <p:spPr>
          <a:xfrm>
            <a:off x="1215924" y="2141693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p40"/>
          <p:cNvSpPr/>
          <p:nvPr/>
        </p:nvSpPr>
        <p:spPr>
          <a:xfrm>
            <a:off x="1215924" y="2456018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40"/>
          <p:cNvSpPr/>
          <p:nvPr/>
        </p:nvSpPr>
        <p:spPr>
          <a:xfrm>
            <a:off x="8921681" y="1331121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8" name="Google Shape;158;p40"/>
          <p:cNvSpPr/>
          <p:nvPr/>
        </p:nvSpPr>
        <p:spPr>
          <a:xfrm>
            <a:off x="9452588" y="1336127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59" name="Google Shape;159;p40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1046662" y="2822336"/>
            <a:ext cx="7936471" cy="3801748"/>
            <a:chOff x="1615921" y="1017671"/>
            <a:chExt cx="788147" cy="1493610"/>
          </a:xfrm>
        </p:grpSpPr>
        <p:sp>
          <p:nvSpPr>
            <p:cNvPr id="160" name="Google Shape;160;p40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ko-KR" altLang="en-US" sz="1000" b="1" dirty="0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유전자정</a:t>
              </a:r>
              <a:r>
                <a:rPr lang="ko-KR" altLang="en-US" sz="1000" b="1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보</a:t>
              </a:r>
              <a:r>
                <a:rPr lang="en-US" sz="1000" b="0" i="0" u="none" strike="noStrike" cap="none" dirty="0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r>
                <a:rPr lang="en-US" sz="1000" b="1" i="0" u="none" strike="noStrike" cap="none" dirty="0" err="1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추가</a:t>
              </a:r>
              <a:r>
                <a:rPr lang="en-US" sz="1000" b="1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/</a:t>
              </a:r>
              <a:r>
                <a:rPr lang="en-US" sz="1000" b="1" i="0" u="none" strike="noStrike" cap="none" dirty="0" err="1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수정</a:t>
              </a:r>
              <a:endParaRPr sz="1000" b="1" i="0" u="none" strike="noStrike" cap="none" dirty="0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61" name="Google Shape;161;p40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7155" y="1132997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62" name="Google Shape;162;p40"/>
          <p:cNvSpPr/>
          <p:nvPr/>
        </p:nvSpPr>
        <p:spPr>
          <a:xfrm>
            <a:off x="7071059" y="6185258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저장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40"/>
          <p:cNvSpPr/>
          <p:nvPr/>
        </p:nvSpPr>
        <p:spPr>
          <a:xfrm>
            <a:off x="7647760" y="6201483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취소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40"/>
          <p:cNvSpPr txBox="1"/>
          <p:nvPr/>
        </p:nvSpPr>
        <p:spPr>
          <a:xfrm>
            <a:off x="1288037" y="3583621"/>
            <a:ext cx="82586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유전자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0"/>
          <p:cNvSpPr/>
          <p:nvPr/>
        </p:nvSpPr>
        <p:spPr>
          <a:xfrm>
            <a:off x="2253547" y="3578251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0"/>
          <p:cNvSpPr/>
          <p:nvPr/>
        </p:nvSpPr>
        <p:spPr>
          <a:xfrm>
            <a:off x="9050886" y="3117598"/>
            <a:ext cx="2892706" cy="1589983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조회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수정권한이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있어야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등록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수정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가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가능함</a:t>
            </a: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dirty="0" smtClean="0">
                <a:solidFill>
                  <a:srgbClr val="FF0000"/>
                </a:solidFill>
                <a:latin typeface="Quattrocento Sans"/>
                <a:sym typeface="Quattrocento Sans"/>
              </a:rPr>
              <a:t>목록에 인종은 제외함</a:t>
            </a:r>
            <a:endParaRPr lang="en-US" altLang="ko-KR" sz="1100" dirty="0" smtClean="0">
              <a:solidFill>
                <a:srgbClr val="FF0000"/>
              </a:solidFill>
              <a:latin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endParaRPr dirty="0"/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40"/>
          <p:cNvSpPr txBox="1"/>
          <p:nvPr/>
        </p:nvSpPr>
        <p:spPr>
          <a:xfrm>
            <a:off x="1290878" y="3299427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검사명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0"/>
          <p:cNvSpPr/>
          <p:nvPr/>
        </p:nvSpPr>
        <p:spPr>
          <a:xfrm>
            <a:off x="2248007" y="3216612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위암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4263941" y="3325590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40"/>
          <p:cNvGrpSpPr/>
          <p:nvPr/>
        </p:nvGrpSpPr>
        <p:grpSpPr>
          <a:xfrm>
            <a:off x="1873100" y="2423966"/>
            <a:ext cx="293098" cy="494786"/>
            <a:chOff x="5294313" y="2197100"/>
            <a:chExt cx="500483" cy="844878"/>
          </a:xfrm>
        </p:grpSpPr>
        <p:sp>
          <p:nvSpPr>
            <p:cNvPr id="177" name="Google Shape;177;p40"/>
            <p:cNvSpPr/>
            <p:nvPr/>
          </p:nvSpPr>
          <p:spPr>
            <a:xfrm>
              <a:off x="5418559" y="2453016"/>
              <a:ext cx="376237" cy="588962"/>
            </a:xfrm>
            <a:custGeom>
              <a:avLst/>
              <a:gdLst/>
              <a:ahLst/>
              <a:cxnLst/>
              <a:rect l="l" t="t" r="r" b="b"/>
              <a:pathLst>
                <a:path w="495" h="773" extrusionOk="0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8" name="Google Shape;178;p40"/>
            <p:cNvSpPr/>
            <p:nvPr/>
          </p:nvSpPr>
          <p:spPr>
            <a:xfrm>
              <a:off x="5294313" y="2197100"/>
              <a:ext cx="307975" cy="231775"/>
            </a:xfrm>
            <a:custGeom>
              <a:avLst/>
              <a:gdLst/>
              <a:ahLst/>
              <a:cxnLst/>
              <a:rect l="l" t="t" r="r" b="b"/>
              <a:pathLst>
                <a:path w="405" h="303" extrusionOk="0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 cmpd="sng">
              <a:solidFill>
                <a:srgbClr val="3483C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79" name="Google Shape;179;p40"/>
          <p:cNvCxnSpPr/>
          <p:nvPr/>
        </p:nvCxnSpPr>
        <p:spPr>
          <a:xfrm>
            <a:off x="1088830" y="4648766"/>
            <a:ext cx="7496371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0" name="Google Shape;180;p40"/>
          <p:cNvSpPr txBox="1"/>
          <p:nvPr/>
        </p:nvSpPr>
        <p:spPr>
          <a:xfrm>
            <a:off x="1271824" y="4703883"/>
            <a:ext cx="326870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❖ SNP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정보를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수정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합니다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000" b="1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SNP</a:t>
            </a:r>
            <a:r>
              <a:rPr lang="ko-KR" altLang="en-US" sz="1000" b="1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코드는 중복불가</a:t>
            </a:r>
            <a:r>
              <a:rPr lang="en-US" altLang="ko-KR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4971" y="4730289"/>
            <a:ext cx="148558" cy="14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7414164" y="4733352"/>
            <a:ext cx="162586" cy="162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7657602" y="4746160"/>
            <a:ext cx="159391" cy="15939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0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0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0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0"/>
          <p:cNvSpPr txBox="1"/>
          <p:nvPr/>
        </p:nvSpPr>
        <p:spPr>
          <a:xfrm>
            <a:off x="5125552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p40"/>
          <p:cNvGraphicFramePr/>
          <p:nvPr>
            <p:extLst>
              <p:ext uri="{D42A27DB-BD31-4B8C-83A1-F6EECF244321}">
                <p14:modId xmlns:p14="http://schemas.microsoft.com/office/powerpoint/2010/main" val="3228441939"/>
              </p:ext>
            </p:extLst>
          </p:nvPr>
        </p:nvGraphicFramePr>
        <p:xfrm>
          <a:off x="1212476" y="4997302"/>
          <a:ext cx="6282981" cy="615527"/>
        </p:xfrm>
        <a:graphic>
          <a:graphicData uri="http://schemas.openxmlformats.org/drawingml/2006/table">
            <a:tbl>
              <a:tblPr firstRow="1" bandRow="1">
                <a:noFill/>
                <a:tableStyleId>{886EACA0-F0CC-4CC7-8EF1-4C8A09502556}</a:tableStyleId>
              </a:tblPr>
              <a:tblGrid>
                <a:gridCol w="1727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9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정상타입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/>
                        <a:t>정상빈동율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위험타입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/>
                        <a:t>위험빈도율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C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u="none" strike="noStrike" cap="none" dirty="0" smtClean="0">
                          <a:solidFill>
                            <a:srgbClr val="595959"/>
                          </a:solidFill>
                        </a:rPr>
                        <a:t>67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T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33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142;p39"/>
          <p:cNvSpPr txBox="1"/>
          <p:nvPr/>
        </p:nvSpPr>
        <p:spPr>
          <a:xfrm>
            <a:off x="7432913" y="414229"/>
            <a:ext cx="126453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u="sng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sng" strike="noStrike" cap="none" dirty="0" smtClean="0">
                <a:solidFill>
                  <a:schemeClr val="lt1"/>
                </a:solidFill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sym typeface="Arial"/>
              </a:rPr>
              <a:t>관리</a:t>
            </a:r>
            <a:endParaRPr sz="1000" b="1" i="0" u="sng" strike="noStrike" cap="none" dirty="0">
              <a:solidFill>
                <a:schemeClr val="lt1"/>
              </a:solidFill>
              <a:sym typeface="Arial"/>
            </a:endParaRPr>
          </a:p>
        </p:txBody>
      </p:sp>
      <p:sp>
        <p:nvSpPr>
          <p:cNvPr id="68" name="Google Shape;164;p40"/>
          <p:cNvSpPr txBox="1"/>
          <p:nvPr/>
        </p:nvSpPr>
        <p:spPr>
          <a:xfrm>
            <a:off x="1270309" y="3991213"/>
            <a:ext cx="51596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smtClean="0">
                <a:solidFill>
                  <a:schemeClr val="tx1"/>
                </a:solidFill>
              </a:rPr>
              <a:t>역</a:t>
            </a:r>
            <a:r>
              <a:rPr lang="ko-KR" altLang="en-US" sz="1000">
                <a:solidFill>
                  <a:schemeClr val="tx1"/>
                </a:solidFill>
              </a:rPr>
              <a:t>활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165;p40"/>
          <p:cNvSpPr/>
          <p:nvPr/>
        </p:nvSpPr>
        <p:spPr>
          <a:xfrm>
            <a:off x="2235819" y="3985843"/>
            <a:ext cx="6349382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204;p41"/>
          <p:cNvSpPr/>
          <p:nvPr/>
        </p:nvSpPr>
        <p:spPr>
          <a:xfrm>
            <a:off x="1170511" y="1303612"/>
            <a:ext cx="1661304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0" i="0" u="none" strike="noStrike" cap="none" dirty="0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명/</a:t>
            </a:r>
            <a:r>
              <a:rPr lang="ko-KR" altLang="en-US" sz="1000" dirty="0" smtClean="0">
                <a:solidFill>
                  <a:srgbClr val="A5A5A5"/>
                </a:solidFill>
              </a:rPr>
              <a:t>유전</a:t>
            </a:r>
            <a:r>
              <a:rPr lang="ko-KR" altLang="en-US" sz="1000" dirty="0">
                <a:solidFill>
                  <a:srgbClr val="A5A5A5"/>
                </a:solidFill>
              </a:rPr>
              <a:t>자</a:t>
            </a:r>
            <a:endParaRPr sz="1000" b="0" i="0" u="none" strike="noStrike" cap="none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05;p41"/>
          <p:cNvSpPr/>
          <p:nvPr/>
        </p:nvSpPr>
        <p:spPr>
          <a:xfrm>
            <a:off x="2981790" y="1306778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07284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Google Shape;196;p41"/>
          <p:cNvGraphicFramePr/>
          <p:nvPr>
            <p:extLst>
              <p:ext uri="{D42A27DB-BD31-4B8C-83A1-F6EECF244321}">
                <p14:modId xmlns:p14="http://schemas.microsoft.com/office/powerpoint/2010/main" val="1341536207"/>
              </p:ext>
            </p:extLst>
          </p:nvPr>
        </p:nvGraphicFramePr>
        <p:xfrm>
          <a:off x="1105645" y="1760753"/>
          <a:ext cx="9452485" cy="101763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56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7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8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거래처명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담당저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이메일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연락처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900" b="1" u="none" strike="noStrike" cap="none" dirty="0" err="1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등록일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테스트 거래처</a:t>
                      </a:r>
                      <a:endParaRPr sz="1000" u="none" strike="noStrike" cap="none" dirty="0"/>
                    </a:p>
                  </a:txBody>
                  <a:tcPr marL="60950" marR="60950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</a:t>
                      </a:r>
                      <a:r>
                        <a:rPr lang="en-US" sz="1000" b="0" i="0" u="none" strike="noStrike" cap="none" dirty="0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환</a:t>
                      </a: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kkkk@abc.com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010-0300-8484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2021-01-12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</a:t>
                      </a:r>
                      <a:r>
                        <a:rPr lang="ko-KR" altLang="en-US" sz="1000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종합벼원</a:t>
                      </a: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</a:t>
                      </a:r>
                      <a:r>
                        <a:rPr lang="en-US" sz="1000" b="0" i="0" u="none" strike="noStrike" cap="none" dirty="0" smtClean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윤</a:t>
                      </a:r>
                      <a:endParaRPr sz="1000" b="0" i="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kkkk@abc.com</a:t>
                      </a:r>
                      <a:endParaRPr sz="900" dirty="0"/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010-3455-7884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2020-11-10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97" name="Google Shape;197;p41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8" name="Google Shape;198;p41"/>
          <p:cNvSpPr/>
          <p:nvPr/>
        </p:nvSpPr>
        <p:spPr>
          <a:xfrm>
            <a:off x="855206" y="917315"/>
            <a:ext cx="14772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ko-KR" altLang="en-US" sz="1200" b="1" dirty="0" smtClean="0">
                <a:solidFill>
                  <a:srgbClr val="333333"/>
                </a:solidFill>
              </a:rPr>
              <a:t>거래</a:t>
            </a:r>
            <a:r>
              <a:rPr lang="ko-KR" altLang="en-US" sz="1200" b="1" dirty="0">
                <a:solidFill>
                  <a:srgbClr val="333333"/>
                </a:solidFill>
              </a:rPr>
              <a:t>처</a:t>
            </a:r>
            <a:r>
              <a:rPr 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1275193" y="1859120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0" name="Google Shape;200;p41"/>
          <p:cNvSpPr/>
          <p:nvPr/>
        </p:nvSpPr>
        <p:spPr>
          <a:xfrm>
            <a:off x="1275193" y="2209429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1275193" y="2540688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41"/>
          <p:cNvSpPr/>
          <p:nvPr/>
        </p:nvSpPr>
        <p:spPr>
          <a:xfrm>
            <a:off x="9833686" y="1346144"/>
            <a:ext cx="493234" cy="265507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삭제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41"/>
          <p:cNvSpPr/>
          <p:nvPr/>
        </p:nvSpPr>
        <p:spPr>
          <a:xfrm>
            <a:off x="1170511" y="1346144"/>
            <a:ext cx="1661304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dirty="0" smtClean="0">
                <a:solidFill>
                  <a:srgbClr val="A5A5A5"/>
                </a:solidFill>
              </a:rPr>
              <a:t>거래</a:t>
            </a:r>
            <a:r>
              <a:rPr lang="ko-KR" altLang="en-US" sz="1000" dirty="0">
                <a:solidFill>
                  <a:srgbClr val="A5A5A5"/>
                </a:solidFill>
              </a:rPr>
              <a:t>처</a:t>
            </a:r>
            <a:r>
              <a:rPr lang="en-US" sz="1000" b="0" i="0" u="none" strike="noStrike" cap="none" dirty="0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명/</a:t>
            </a:r>
            <a:r>
              <a:rPr lang="ko-KR" altLang="en-US" sz="1000" dirty="0" smtClean="0">
                <a:solidFill>
                  <a:srgbClr val="A5A5A5"/>
                </a:solidFill>
              </a:rPr>
              <a:t>담당</a:t>
            </a:r>
            <a:r>
              <a:rPr lang="ko-KR" altLang="en-US" sz="1000" dirty="0">
                <a:solidFill>
                  <a:srgbClr val="A5A5A5"/>
                </a:solidFill>
              </a:rPr>
              <a:t>자</a:t>
            </a:r>
            <a:endParaRPr sz="1000" b="0" i="0" u="none" strike="noStrike" cap="none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1"/>
          <p:cNvSpPr/>
          <p:nvPr/>
        </p:nvSpPr>
        <p:spPr>
          <a:xfrm>
            <a:off x="2981790" y="1349310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Google Shape;206;p41"/>
          <p:cNvSpPr txBox="1"/>
          <p:nvPr/>
        </p:nvSpPr>
        <p:spPr>
          <a:xfrm>
            <a:off x="1275193" y="412204"/>
            <a:ext cx="619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2981285" y="41655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1"/>
          <p:cNvSpPr txBox="1"/>
          <p:nvPr/>
        </p:nvSpPr>
        <p:spPr>
          <a:xfrm>
            <a:off x="2061345" y="427638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1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1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1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1"/>
          <p:cNvSpPr txBox="1"/>
          <p:nvPr/>
        </p:nvSpPr>
        <p:spPr>
          <a:xfrm>
            <a:off x="5049349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1"/>
          <p:cNvSpPr/>
          <p:nvPr/>
        </p:nvSpPr>
        <p:spPr>
          <a:xfrm>
            <a:off x="9254258" y="1356522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27" name="Google Shape;227;p41"/>
          <p:cNvGrpSpPr/>
          <p:nvPr/>
        </p:nvGrpSpPr>
        <p:grpSpPr>
          <a:xfrm>
            <a:off x="2120125" y="2751215"/>
            <a:ext cx="293098" cy="494786"/>
            <a:chOff x="5294313" y="2197100"/>
            <a:chExt cx="500483" cy="844878"/>
          </a:xfrm>
        </p:grpSpPr>
        <p:sp>
          <p:nvSpPr>
            <p:cNvPr id="228" name="Google Shape;228;p41"/>
            <p:cNvSpPr/>
            <p:nvPr/>
          </p:nvSpPr>
          <p:spPr>
            <a:xfrm>
              <a:off x="5418559" y="2453016"/>
              <a:ext cx="376237" cy="588962"/>
            </a:xfrm>
            <a:custGeom>
              <a:avLst/>
              <a:gdLst/>
              <a:ahLst/>
              <a:cxnLst/>
              <a:rect l="l" t="t" r="r" b="b"/>
              <a:pathLst>
                <a:path w="495" h="773" extrusionOk="0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9" name="Google Shape;229;p41"/>
            <p:cNvSpPr/>
            <p:nvPr/>
          </p:nvSpPr>
          <p:spPr>
            <a:xfrm>
              <a:off x="5294313" y="2197100"/>
              <a:ext cx="307975" cy="231775"/>
            </a:xfrm>
            <a:custGeom>
              <a:avLst/>
              <a:gdLst/>
              <a:ahLst/>
              <a:cxnLst/>
              <a:rect l="l" t="t" r="r" b="b"/>
              <a:pathLst>
                <a:path w="405" h="303" extrusionOk="0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 cmpd="sng">
              <a:solidFill>
                <a:srgbClr val="3483C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30" name="Google Shape;230;p41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1046663" y="3050354"/>
            <a:ext cx="4153468" cy="3180325"/>
            <a:chOff x="1615921" y="1017671"/>
            <a:chExt cx="788147" cy="1493610"/>
          </a:xfrm>
        </p:grpSpPr>
        <p:sp>
          <p:nvSpPr>
            <p:cNvPr id="231" name="Google Shape;231;p41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ko-KR" altLang="en-US" sz="1000" b="1" dirty="0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거래처 </a:t>
              </a:r>
              <a:r>
                <a:rPr lang="en-US" sz="1000" b="1" i="0" u="none" strike="noStrike" cap="none" dirty="0" err="1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추가</a:t>
              </a:r>
              <a:r>
                <a:rPr lang="en-US" sz="1000" b="1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/</a:t>
              </a:r>
              <a:r>
                <a:rPr lang="en-US" sz="1000" b="1" i="0" u="none" strike="noStrike" cap="none" dirty="0" err="1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수정</a:t>
              </a:r>
              <a:endParaRPr sz="1000" b="1" i="0" u="none" strike="noStrike" cap="none" dirty="0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32" name="Google Shape;232;p41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7155" y="1132997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233" name="Google Shape;233;p41"/>
          <p:cNvSpPr/>
          <p:nvPr/>
        </p:nvSpPr>
        <p:spPr>
          <a:xfrm>
            <a:off x="3938269" y="5798729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저장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" name="Google Shape;234;p41"/>
          <p:cNvSpPr/>
          <p:nvPr/>
        </p:nvSpPr>
        <p:spPr>
          <a:xfrm>
            <a:off x="4557305" y="5831888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취소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5" name="Google Shape;235;p41"/>
          <p:cNvSpPr txBox="1"/>
          <p:nvPr/>
        </p:nvSpPr>
        <p:spPr>
          <a:xfrm>
            <a:off x="1313044" y="3771076"/>
            <a:ext cx="80897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담당자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2253547" y="3755073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홍길동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/>
          <p:nvPr/>
        </p:nvSpPr>
        <p:spPr>
          <a:xfrm>
            <a:off x="2249192" y="4085183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남자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 txBox="1"/>
          <p:nvPr/>
        </p:nvSpPr>
        <p:spPr>
          <a:xfrm>
            <a:off x="1170511" y="4091405"/>
            <a:ext cx="95150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-KR" altLang="en-US" sz="1000" b="0" i="0" u="none" strike="noStrike" cap="none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이메일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 txBox="1"/>
          <p:nvPr/>
        </p:nvSpPr>
        <p:spPr>
          <a:xfrm>
            <a:off x="1353205" y="4714950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주소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1"/>
          <p:cNvSpPr txBox="1"/>
          <p:nvPr/>
        </p:nvSpPr>
        <p:spPr>
          <a:xfrm>
            <a:off x="1273854" y="3508148"/>
            <a:ext cx="78637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 err="1" smtClean="0">
                <a:solidFill>
                  <a:schemeClr val="tx1"/>
                </a:solidFill>
              </a:rPr>
              <a:t>거래처</a:t>
            </a:r>
            <a:r>
              <a:rPr lang="ko-KR" altLang="en-US" sz="1000" b="0" i="0" u="none" strike="noStrike" cap="none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명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2248007" y="3382381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종합병원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2240157" y="4704008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1979-11-02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2259549" y="4417517"/>
            <a:ext cx="2158734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010-23456-2355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1199095" y="4436155"/>
            <a:ext cx="8611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-KR" altLang="en-US" sz="10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연락처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altLang="ko-KR" sz="1000" dirty="0">
                <a:solidFill>
                  <a:srgbClr val="FF0000"/>
                </a:solidFill>
              </a:rPr>
              <a:t> *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1"/>
          <p:cNvSpPr/>
          <p:nvPr/>
        </p:nvSpPr>
        <p:spPr>
          <a:xfrm>
            <a:off x="7251571" y="3680747"/>
            <a:ext cx="3968730" cy="1092966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rgbClr val="FF0000"/>
                </a:solidFill>
                <a:latin typeface="Quattrocento Sans"/>
                <a:sym typeface="Quattrocento Sans"/>
              </a:rPr>
              <a:t>목록에 언어 항목은 삭제</a:t>
            </a:r>
            <a:endParaRPr lang="en-US" altLang="ko-KR" sz="1100" b="1" dirty="0" smtClean="0">
              <a:solidFill>
                <a:srgbClr val="FF0000"/>
              </a:solidFill>
              <a:latin typeface="Quattrocento Sans"/>
              <a:sym typeface="Quattrocento Sans"/>
            </a:endParaRPr>
          </a:p>
        </p:txBody>
      </p:sp>
      <p:grpSp>
        <p:nvGrpSpPr>
          <p:cNvPr id="254" name="Google Shape;254;p41" descr="&lt;SmartSettings&gt;&lt;SmartResize enabled=&quot;True&quot; minWidth=&quot;12&quot; minHeight=&quot;12&quot; /&gt;&lt;/SmartSettings&gt;"/>
          <p:cNvGrpSpPr/>
          <p:nvPr/>
        </p:nvGrpSpPr>
        <p:grpSpPr>
          <a:xfrm>
            <a:off x="5371553" y="3027814"/>
            <a:ext cx="494321" cy="241995"/>
            <a:chOff x="1642629" y="1920028"/>
            <a:chExt cx="494321" cy="241995"/>
          </a:xfrm>
        </p:grpSpPr>
        <p:sp>
          <p:nvSpPr>
            <p:cNvPr id="255" name="Google Shape;255;p41"/>
            <p:cNvSpPr/>
            <p:nvPr/>
          </p:nvSpPr>
          <p:spPr>
            <a:xfrm>
              <a:off x="1642629" y="1920028"/>
              <a:ext cx="494321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64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Back</a:t>
              </a:r>
              <a:endParaRPr/>
            </a:p>
          </p:txBody>
        </p:sp>
        <p:sp>
          <p:nvSpPr>
            <p:cNvPr id="256" name="Google Shape;256;p41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1722665" y="1991324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57" name="Google Shape;257;p41"/>
          <p:cNvSpPr txBox="1"/>
          <p:nvPr/>
        </p:nvSpPr>
        <p:spPr>
          <a:xfrm>
            <a:off x="5865874" y="3011226"/>
            <a:ext cx="62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2  3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41"/>
          <p:cNvGrpSpPr/>
          <p:nvPr/>
        </p:nvGrpSpPr>
        <p:grpSpPr>
          <a:xfrm>
            <a:off x="6485978" y="3025464"/>
            <a:ext cx="465796" cy="241995"/>
            <a:chOff x="7589857" y="3485809"/>
            <a:chExt cx="465796" cy="241995"/>
          </a:xfrm>
        </p:grpSpPr>
        <p:sp>
          <p:nvSpPr>
            <p:cNvPr id="259" name="Google Shape;259;p41"/>
            <p:cNvSpPr/>
            <p:nvPr/>
          </p:nvSpPr>
          <p:spPr>
            <a:xfrm>
              <a:off x="7589857" y="3485809"/>
              <a:ext cx="465796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45700" rIns="180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Next</a:t>
              </a:r>
              <a:endParaRPr/>
            </a:p>
          </p:txBody>
        </p:sp>
        <p:sp>
          <p:nvSpPr>
            <p:cNvPr id="260" name="Google Shape;260;p41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7921500" y="3565513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88" name="Google Shape;248;p41"/>
          <p:cNvSpPr txBox="1"/>
          <p:nvPr/>
        </p:nvSpPr>
        <p:spPr>
          <a:xfrm>
            <a:off x="1337653" y="5003399"/>
            <a:ext cx="623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chemeClr val="tx1"/>
                </a:solidFill>
                <a:sym typeface="Arial"/>
              </a:rPr>
              <a:t>메모</a:t>
            </a:r>
            <a:endParaRPr sz="1000" b="0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89" name="Google Shape;249;p41"/>
          <p:cNvSpPr/>
          <p:nvPr/>
        </p:nvSpPr>
        <p:spPr>
          <a:xfrm>
            <a:off x="2102760" y="5015265"/>
            <a:ext cx="2989121" cy="360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u="sng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sng" strike="noStrike" cap="none" dirty="0" smtClean="0">
                <a:solidFill>
                  <a:schemeClr val="lt1"/>
                </a:solidFill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sym typeface="Arial"/>
              </a:rPr>
              <a:t>관리</a:t>
            </a:r>
            <a:endParaRPr sz="1000" b="1" i="0" u="sng" strike="noStrike" cap="none" dirty="0">
              <a:solidFill>
                <a:schemeClr val="lt1"/>
              </a:solidFill>
              <a:sym typeface="Arial"/>
            </a:endParaRPr>
          </a:p>
        </p:txBody>
      </p:sp>
      <p:sp>
        <p:nvSpPr>
          <p:cNvPr id="103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42;p39"/>
          <p:cNvSpPr txBox="1"/>
          <p:nvPr/>
        </p:nvSpPr>
        <p:spPr>
          <a:xfrm>
            <a:off x="7432914" y="414229"/>
            <a:ext cx="122705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Google Shape;196;p41"/>
          <p:cNvGraphicFramePr/>
          <p:nvPr>
            <p:extLst>
              <p:ext uri="{D42A27DB-BD31-4B8C-83A1-F6EECF244321}">
                <p14:modId xmlns:p14="http://schemas.microsoft.com/office/powerpoint/2010/main" val="3359133754"/>
              </p:ext>
            </p:extLst>
          </p:nvPr>
        </p:nvGraphicFramePr>
        <p:xfrm>
          <a:off x="1105645" y="1760753"/>
          <a:ext cx="10104225" cy="101763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418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2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5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68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27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검사자명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성별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의뢰일자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입고일자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결과일력일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나이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진행상태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등록자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900" b="1" u="none" strike="noStrike" cap="none" dirty="0" err="1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등록일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수정일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strike="noStrike" cap="none">
                          <a:solidFill>
                            <a:srgbClr val="0088CC"/>
                          </a:solidFill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8704050010</a:t>
                      </a:r>
                      <a:endParaRPr sz="10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권*환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남자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2023-00-00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2023-02-02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접수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2021-01-12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0000-00-00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sng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5904050334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박*윤</a:t>
                      </a:r>
                      <a:endParaRPr sz="1000" b="0" i="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남자</a:t>
                      </a:r>
                      <a:endParaRPr/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2023-01-24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2023-01-23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2023-04-02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접수</a:t>
                      </a:r>
                      <a:endParaRPr/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2020-11-10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sng" strike="noStrike" cap="non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0000-00-00</a:t>
                      </a:r>
                      <a:endParaRPr sz="900" u="sng" strike="noStrike" cap="none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97" name="Google Shape;197;p41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8" name="Google Shape;198;p41"/>
          <p:cNvSpPr/>
          <p:nvPr/>
        </p:nvSpPr>
        <p:spPr>
          <a:xfrm>
            <a:off x="855206" y="917315"/>
            <a:ext cx="14772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ko-KR" altLang="en-US" sz="1200" b="1" dirty="0" smtClean="0">
                <a:solidFill>
                  <a:srgbClr val="333333"/>
                </a:solidFill>
              </a:rPr>
              <a:t>검사</a:t>
            </a:r>
            <a:r>
              <a:rPr lang="ko-KR" altLang="en-US" sz="1200" b="1" dirty="0">
                <a:solidFill>
                  <a:srgbClr val="333333"/>
                </a:solidFill>
              </a:rPr>
              <a:t>자</a:t>
            </a:r>
            <a:r>
              <a:rPr lang="en-US" sz="1200" b="1" i="0" u="none" strike="noStrike" cap="none" dirty="0" err="1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1275193" y="1859120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0" name="Google Shape;200;p41"/>
          <p:cNvSpPr/>
          <p:nvPr/>
        </p:nvSpPr>
        <p:spPr>
          <a:xfrm>
            <a:off x="1275193" y="2209429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1275193" y="2569263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41"/>
          <p:cNvSpPr/>
          <p:nvPr/>
        </p:nvSpPr>
        <p:spPr>
          <a:xfrm>
            <a:off x="10556730" y="1346144"/>
            <a:ext cx="493234" cy="265507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삭제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41"/>
          <p:cNvSpPr/>
          <p:nvPr/>
        </p:nvSpPr>
        <p:spPr>
          <a:xfrm>
            <a:off x="4421077" y="1346144"/>
            <a:ext cx="1558106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검사자명/ID</a:t>
            </a:r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1"/>
          <p:cNvSpPr/>
          <p:nvPr/>
        </p:nvSpPr>
        <p:spPr>
          <a:xfrm>
            <a:off x="6033461" y="1349310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Google Shape;206;p41"/>
          <p:cNvSpPr txBox="1"/>
          <p:nvPr/>
        </p:nvSpPr>
        <p:spPr>
          <a:xfrm>
            <a:off x="1275193" y="412204"/>
            <a:ext cx="619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2981285" y="41655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1"/>
          <p:cNvSpPr txBox="1"/>
          <p:nvPr/>
        </p:nvSpPr>
        <p:spPr>
          <a:xfrm>
            <a:off x="2061345" y="427638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1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1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41"/>
          <p:cNvSpPr/>
          <p:nvPr/>
        </p:nvSpPr>
        <p:spPr>
          <a:xfrm>
            <a:off x="1663809" y="1365534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1"/>
          <p:cNvSpPr/>
          <p:nvPr/>
        </p:nvSpPr>
        <p:spPr>
          <a:xfrm>
            <a:off x="2645647" y="1393977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p41"/>
          <p:cNvSpPr txBox="1"/>
          <p:nvPr/>
        </p:nvSpPr>
        <p:spPr>
          <a:xfrm>
            <a:off x="2863697" y="1326888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1"/>
          <p:cNvSpPr/>
          <p:nvPr/>
        </p:nvSpPr>
        <p:spPr>
          <a:xfrm>
            <a:off x="3112992" y="1359839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1"/>
          <p:cNvSpPr/>
          <p:nvPr/>
        </p:nvSpPr>
        <p:spPr>
          <a:xfrm>
            <a:off x="4094830" y="1388282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p41"/>
          <p:cNvSpPr/>
          <p:nvPr/>
        </p:nvSpPr>
        <p:spPr>
          <a:xfrm>
            <a:off x="7392214" y="1345947"/>
            <a:ext cx="1175934" cy="285893"/>
          </a:xfrm>
          <a:prstGeom prst="roundRect">
            <a:avLst>
              <a:gd name="adj" fmla="val 11182"/>
            </a:avLst>
          </a:prstGeom>
          <a:solidFill>
            <a:srgbClr val="A8D08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4000" rIns="9142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</a:t>
            </a:r>
            <a:r>
              <a:rPr lang="en-US" sz="9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검사자</a:t>
            </a:r>
            <a:r>
              <a:rPr lang="en-US"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9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업로드</a:t>
            </a:r>
            <a:endParaRPr sz="900" b="1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18" name="Google Shape;218;p41" descr="https://t1.daumcdn.net/cfile/tistory/242A7F4B55A48CAE16"/>
          <p:cNvPicPr preferRelativeResize="0"/>
          <p:nvPr/>
        </p:nvPicPr>
        <p:blipFill rotWithShape="1">
          <a:blip r:embed="rId4">
            <a:alphaModFix/>
          </a:blip>
          <a:srcRect l="5354" t="7425" r="63988" b="47661"/>
          <a:stretch/>
        </p:blipFill>
        <p:spPr>
          <a:xfrm>
            <a:off x="7416342" y="1403258"/>
            <a:ext cx="230945" cy="20871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1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1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1"/>
          <p:cNvSpPr txBox="1"/>
          <p:nvPr/>
        </p:nvSpPr>
        <p:spPr>
          <a:xfrm>
            <a:off x="5049349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1"/>
          <p:cNvSpPr txBox="1"/>
          <p:nvPr/>
        </p:nvSpPr>
        <p:spPr>
          <a:xfrm>
            <a:off x="1122184" y="1396106"/>
            <a:ext cx="5693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의뢰일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225;p41"/>
          <p:cNvSpPr/>
          <p:nvPr/>
        </p:nvSpPr>
        <p:spPr>
          <a:xfrm>
            <a:off x="9466918" y="1356522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6" name="Google Shape;226;p41"/>
          <p:cNvSpPr/>
          <p:nvPr/>
        </p:nvSpPr>
        <p:spPr>
          <a:xfrm>
            <a:off x="10000333" y="1364983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바코드</a:t>
            </a:r>
            <a:endParaRPr sz="10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27" name="Google Shape;227;p41"/>
          <p:cNvGrpSpPr/>
          <p:nvPr/>
        </p:nvGrpSpPr>
        <p:grpSpPr>
          <a:xfrm>
            <a:off x="2120125" y="2684540"/>
            <a:ext cx="293098" cy="494786"/>
            <a:chOff x="5294313" y="2197100"/>
            <a:chExt cx="500483" cy="844878"/>
          </a:xfrm>
        </p:grpSpPr>
        <p:sp>
          <p:nvSpPr>
            <p:cNvPr id="228" name="Google Shape;228;p41"/>
            <p:cNvSpPr/>
            <p:nvPr/>
          </p:nvSpPr>
          <p:spPr>
            <a:xfrm>
              <a:off x="5418559" y="2453016"/>
              <a:ext cx="376237" cy="588962"/>
            </a:xfrm>
            <a:custGeom>
              <a:avLst/>
              <a:gdLst/>
              <a:ahLst/>
              <a:cxnLst/>
              <a:rect l="l" t="t" r="r" b="b"/>
              <a:pathLst>
                <a:path w="495" h="773" extrusionOk="0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9" name="Google Shape;229;p41"/>
            <p:cNvSpPr/>
            <p:nvPr/>
          </p:nvSpPr>
          <p:spPr>
            <a:xfrm>
              <a:off x="5294313" y="2197100"/>
              <a:ext cx="307975" cy="231775"/>
            </a:xfrm>
            <a:custGeom>
              <a:avLst/>
              <a:gdLst/>
              <a:ahLst/>
              <a:cxnLst/>
              <a:rect l="l" t="t" r="r" b="b"/>
              <a:pathLst>
                <a:path w="405" h="303" extrusionOk="0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 cmpd="sng">
              <a:solidFill>
                <a:srgbClr val="3483C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30" name="Google Shape;230;p41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1046663" y="2866716"/>
            <a:ext cx="4153468" cy="3905559"/>
            <a:chOff x="1615921" y="1017671"/>
            <a:chExt cx="788147" cy="1493610"/>
          </a:xfrm>
        </p:grpSpPr>
        <p:sp>
          <p:nvSpPr>
            <p:cNvPr id="231" name="Google Shape;231;p41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en-US" sz="1000" b="1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검사자</a:t>
              </a:r>
              <a:r>
                <a:rPr lang="en-US" sz="1000" b="0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r>
                <a:rPr lang="en-US" sz="1000" b="1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추가/수정</a:t>
              </a:r>
              <a:endParaRPr sz="1000" b="1" i="0" u="none" strike="noStrike" cap="non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32" name="Google Shape;232;p41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7155" y="1132997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233" name="Google Shape;233;p41"/>
          <p:cNvSpPr/>
          <p:nvPr/>
        </p:nvSpPr>
        <p:spPr>
          <a:xfrm>
            <a:off x="4081144" y="6465051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저장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" name="Google Shape;234;p41"/>
          <p:cNvSpPr/>
          <p:nvPr/>
        </p:nvSpPr>
        <p:spPr>
          <a:xfrm>
            <a:off x="4604930" y="6479160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취소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5" name="Google Shape;235;p41"/>
          <p:cNvSpPr txBox="1"/>
          <p:nvPr/>
        </p:nvSpPr>
        <p:spPr>
          <a:xfrm>
            <a:off x="1465444" y="3549338"/>
            <a:ext cx="5693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이름</a:t>
            </a: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2253547" y="3533335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홍길동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/>
          <p:nvPr/>
        </p:nvSpPr>
        <p:spPr>
          <a:xfrm>
            <a:off x="2249192" y="3806295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남자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 txBox="1"/>
          <p:nvPr/>
        </p:nvSpPr>
        <p:spPr>
          <a:xfrm>
            <a:off x="1322911" y="3812517"/>
            <a:ext cx="70403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성별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 txBox="1"/>
          <p:nvPr/>
        </p:nvSpPr>
        <p:spPr>
          <a:xfrm>
            <a:off x="1353205" y="4704103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생년월일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2259554" y="4103098"/>
            <a:ext cx="219991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1"/>
          <p:cNvSpPr txBox="1"/>
          <p:nvPr/>
        </p:nvSpPr>
        <p:spPr>
          <a:xfrm>
            <a:off x="1351501" y="4089811"/>
            <a:ext cx="6046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나이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1"/>
          <p:cNvSpPr txBox="1"/>
          <p:nvPr/>
        </p:nvSpPr>
        <p:spPr>
          <a:xfrm>
            <a:off x="1544882" y="3324510"/>
            <a:ext cx="4395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2248007" y="3241695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3549469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2240157" y="4693161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1979-11-02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2259549" y="4397145"/>
            <a:ext cx="2158734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010-23456-2355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1199095" y="4415783"/>
            <a:ext cx="8611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전화번호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297803" y="3877055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1"/>
          <p:cNvSpPr/>
          <p:nvPr/>
        </p:nvSpPr>
        <p:spPr>
          <a:xfrm>
            <a:off x="7251571" y="4559320"/>
            <a:ext cx="3968730" cy="1092966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altLang="ko-KR" sz="1100" b="1" dirty="0" smtClean="0">
                <a:solidFill>
                  <a:srgbClr val="FF0000"/>
                </a:solidFill>
                <a:latin typeface="Quattrocento Sans"/>
                <a:sym typeface="Quattrocento Sans"/>
              </a:rPr>
              <a:t>TAT </a:t>
            </a:r>
            <a:r>
              <a:rPr lang="ko-KR" altLang="en-US" sz="1100" b="1" dirty="0" smtClean="0">
                <a:solidFill>
                  <a:srgbClr val="FF0000"/>
                </a:solidFill>
                <a:latin typeface="Quattrocento Sans"/>
                <a:sym typeface="Quattrocento Sans"/>
              </a:rPr>
              <a:t>및 영업일 관리는 </a:t>
            </a:r>
            <a:r>
              <a:rPr lang="ko-KR" altLang="en-US" sz="1100" b="1" dirty="0">
                <a:solidFill>
                  <a:srgbClr val="FF0000"/>
                </a:solidFill>
                <a:latin typeface="Quattrocento Sans"/>
                <a:sym typeface="Quattrocento Sans"/>
              </a:rPr>
              <a:t>제</a:t>
            </a:r>
            <a:r>
              <a:rPr lang="ko-KR" altLang="en-US" sz="1100" b="1" dirty="0" smtClean="0">
                <a:solidFill>
                  <a:srgbClr val="FF0000"/>
                </a:solidFill>
                <a:latin typeface="Quattrocento Sans"/>
                <a:sym typeface="Quattrocento Sans"/>
              </a:rPr>
              <a:t>외함</a:t>
            </a:r>
            <a:endParaRPr lang="en-US" altLang="ko-KR" sz="1100" b="1" dirty="0" smtClean="0">
              <a:solidFill>
                <a:srgbClr val="FF0000"/>
              </a:solidFill>
              <a:latin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rgbClr val="5F5F5F"/>
                </a:solidFill>
                <a:latin typeface="Quattrocento Sans"/>
                <a:sym typeface="Quattrocento Sans"/>
              </a:rPr>
              <a:t>변경사유</a:t>
            </a:r>
            <a:r>
              <a:rPr lang="ko-KR" altLang="en-US" sz="1100" dirty="0" smtClean="0">
                <a:solidFill>
                  <a:srgbClr val="5F5F5F"/>
                </a:solidFill>
                <a:latin typeface="Quattrocento Sans"/>
                <a:sym typeface="Quattrocento Sans"/>
              </a:rPr>
              <a:t>는 수정일 경우만 입력 하는 항목으로 필수 입력사항</a:t>
            </a:r>
            <a:endParaRPr lang="en-US" altLang="ko-KR" sz="1100" dirty="0" smtClean="0">
              <a:solidFill>
                <a:srgbClr val="5F5F5F"/>
              </a:solidFill>
              <a:latin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err="1" smtClean="0">
                <a:solidFill>
                  <a:srgbClr val="5F5F5F"/>
                </a:solidFill>
                <a:latin typeface="Quattrocento Sans"/>
                <a:sym typeface="Quattrocento Sans"/>
              </a:rPr>
              <a:t>암발생</a:t>
            </a:r>
            <a:r>
              <a:rPr lang="ko-KR" altLang="en-US" sz="1100" b="1" dirty="0" smtClean="0">
                <a:solidFill>
                  <a:srgbClr val="5F5F5F"/>
                </a:solidFill>
                <a:latin typeface="Quattrocento Sans"/>
                <a:sym typeface="Quattrocento Sans"/>
              </a:rPr>
              <a:t> 및 </a:t>
            </a:r>
            <a:r>
              <a:rPr lang="ko-KR" altLang="en-US" sz="1100" b="1" dirty="0" err="1" smtClean="0">
                <a:solidFill>
                  <a:srgbClr val="5F5F5F"/>
                </a:solidFill>
                <a:latin typeface="Quattrocento Sans"/>
                <a:sym typeface="Quattrocento Sans"/>
              </a:rPr>
              <a:t>암종류는</a:t>
            </a:r>
            <a:r>
              <a:rPr lang="ko-KR" altLang="en-US" sz="1100" b="1" dirty="0" smtClean="0">
                <a:solidFill>
                  <a:srgbClr val="5F5F5F"/>
                </a:solidFill>
                <a:latin typeface="Quattrocento Sans"/>
                <a:sym typeface="Quattrocento Sans"/>
              </a:rPr>
              <a:t> </a:t>
            </a:r>
            <a:r>
              <a:rPr lang="ko-KR" altLang="en-US" sz="1100" dirty="0" smtClean="0">
                <a:solidFill>
                  <a:srgbClr val="5F5F5F"/>
                </a:solidFill>
                <a:latin typeface="Quattrocento Sans"/>
                <a:sym typeface="Quattrocento Sans"/>
              </a:rPr>
              <a:t>공통코드에서 조회</a:t>
            </a:r>
            <a:endParaRPr lang="en-US" altLang="ko-KR" sz="1100" dirty="0" smtClean="0">
              <a:solidFill>
                <a:srgbClr val="5F5F5F"/>
              </a:solidFill>
              <a:latin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err="1" smtClean="0">
                <a:solidFill>
                  <a:srgbClr val="5F5F5F"/>
                </a:solidFill>
                <a:latin typeface="Quattrocento Sans"/>
                <a:sym typeface="Quattrocento Sans"/>
              </a:rPr>
              <a:t>암종류</a:t>
            </a:r>
            <a:r>
              <a:rPr lang="ko-KR" altLang="en-US" sz="1100" dirty="0" err="1" smtClean="0">
                <a:solidFill>
                  <a:srgbClr val="5F5F5F"/>
                </a:solidFill>
                <a:latin typeface="Quattrocento Sans"/>
                <a:sym typeface="Quattrocento Sans"/>
              </a:rPr>
              <a:t>는</a:t>
            </a:r>
            <a:r>
              <a:rPr lang="ko-KR" altLang="en-US" sz="1100" dirty="0" smtClean="0">
                <a:solidFill>
                  <a:srgbClr val="5F5F5F"/>
                </a:solidFill>
                <a:latin typeface="Quattrocento Sans"/>
                <a:sym typeface="Quattrocento Sans"/>
              </a:rPr>
              <a:t> </a:t>
            </a:r>
            <a:r>
              <a:rPr lang="ko-KR" altLang="en-US" sz="1100" b="1" dirty="0" smtClean="0">
                <a:solidFill>
                  <a:srgbClr val="002060"/>
                </a:solidFill>
                <a:latin typeface="Quattrocento Sans"/>
                <a:sym typeface="Quattrocento Sans"/>
              </a:rPr>
              <a:t>다중 선택이 되어야 함</a:t>
            </a:r>
            <a:endParaRPr lang="en-US" altLang="ko-KR" sz="1100" b="1" dirty="0" smtClean="0">
              <a:solidFill>
                <a:srgbClr val="002060"/>
              </a:solidFill>
              <a:latin typeface="Quattrocento Sans"/>
              <a:sym typeface="Quattrocento Sans"/>
            </a:endParaRPr>
          </a:p>
        </p:txBody>
      </p:sp>
      <p:grpSp>
        <p:nvGrpSpPr>
          <p:cNvPr id="254" name="Google Shape;254;p41" descr="&lt;SmartSettings&gt;&lt;SmartResize enabled=&quot;True&quot; minWidth=&quot;12&quot; minHeight=&quot;12&quot; /&gt;&lt;/SmartSettings&gt;"/>
          <p:cNvGrpSpPr/>
          <p:nvPr/>
        </p:nvGrpSpPr>
        <p:grpSpPr>
          <a:xfrm>
            <a:off x="5371553" y="2953383"/>
            <a:ext cx="494321" cy="241995"/>
            <a:chOff x="1642629" y="1920028"/>
            <a:chExt cx="494321" cy="241995"/>
          </a:xfrm>
        </p:grpSpPr>
        <p:sp>
          <p:nvSpPr>
            <p:cNvPr id="255" name="Google Shape;255;p41"/>
            <p:cNvSpPr/>
            <p:nvPr/>
          </p:nvSpPr>
          <p:spPr>
            <a:xfrm>
              <a:off x="1642629" y="1920028"/>
              <a:ext cx="494321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64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Back</a:t>
              </a:r>
              <a:endParaRPr/>
            </a:p>
          </p:txBody>
        </p:sp>
        <p:sp>
          <p:nvSpPr>
            <p:cNvPr id="256" name="Google Shape;256;p41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1722665" y="1991324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57" name="Google Shape;257;p41"/>
          <p:cNvSpPr txBox="1"/>
          <p:nvPr/>
        </p:nvSpPr>
        <p:spPr>
          <a:xfrm>
            <a:off x="5865874" y="2936795"/>
            <a:ext cx="62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2  3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41"/>
          <p:cNvGrpSpPr/>
          <p:nvPr/>
        </p:nvGrpSpPr>
        <p:grpSpPr>
          <a:xfrm>
            <a:off x="6485978" y="2951033"/>
            <a:ext cx="465796" cy="241995"/>
            <a:chOff x="7589857" y="3485809"/>
            <a:chExt cx="465796" cy="241995"/>
          </a:xfrm>
        </p:grpSpPr>
        <p:sp>
          <p:nvSpPr>
            <p:cNvPr id="259" name="Google Shape;259;p41"/>
            <p:cNvSpPr/>
            <p:nvPr/>
          </p:nvSpPr>
          <p:spPr>
            <a:xfrm>
              <a:off x="7589857" y="3485809"/>
              <a:ext cx="465796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45700" rIns="180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Next</a:t>
              </a:r>
              <a:endParaRPr/>
            </a:p>
          </p:txBody>
        </p:sp>
        <p:sp>
          <p:nvSpPr>
            <p:cNvPr id="260" name="Google Shape;260;p41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7921500" y="3565513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67" name="Google Shape;301;p42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5483371" y="2939096"/>
            <a:ext cx="5878896" cy="1545271"/>
            <a:chOff x="1615921" y="1017671"/>
            <a:chExt cx="788147" cy="1493610"/>
          </a:xfrm>
        </p:grpSpPr>
        <p:sp>
          <p:nvSpPr>
            <p:cNvPr id="68" name="Google Shape;302;p42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ko-KR" altLang="en-US" sz="1000" b="1" i="0" u="none" strike="noStrike" cap="none" dirty="0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변경내역</a:t>
              </a:r>
              <a:endParaRPr sz="1000" b="1" i="0" u="none" strike="noStrike" cap="none" dirty="0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9" name="Google Shape;303;p42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5921" y="1221943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82" name="Google Shape;316;p42"/>
          <p:cNvSpPr/>
          <p:nvPr/>
        </p:nvSpPr>
        <p:spPr>
          <a:xfrm>
            <a:off x="10594171" y="3234354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 err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닫기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84" name="Google Shape;318;p42"/>
          <p:cNvGraphicFramePr/>
          <p:nvPr>
            <p:extLst>
              <p:ext uri="{D42A27DB-BD31-4B8C-83A1-F6EECF244321}">
                <p14:modId xmlns:p14="http://schemas.microsoft.com/office/powerpoint/2010/main" val="2914304101"/>
              </p:ext>
            </p:extLst>
          </p:nvPr>
        </p:nvGraphicFramePr>
        <p:xfrm>
          <a:off x="5755293" y="3620661"/>
          <a:ext cx="5371625" cy="751850"/>
        </p:xfrm>
        <a:graphic>
          <a:graphicData uri="http://schemas.openxmlformats.org/drawingml/2006/table">
            <a:tbl>
              <a:tblPr firstRow="1" bandRow="1">
                <a:noFill/>
                <a:tableStyleId>{886EACA0-F0CC-4CC7-8EF1-4C8A09502556}</a:tableStyleId>
              </a:tblPr>
              <a:tblGrid>
                <a:gridCol w="679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2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항목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/>
                        <a:t>이전값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/>
                        <a:t>변경값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변경사유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/>
                        <a:t>변경일시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변경자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" name="Google Shape;248;p41"/>
          <p:cNvSpPr txBox="1"/>
          <p:nvPr/>
        </p:nvSpPr>
        <p:spPr>
          <a:xfrm>
            <a:off x="1369105" y="5030652"/>
            <a:ext cx="75309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변경사유</a:t>
            </a:r>
            <a:r>
              <a:rPr lang="en-US" altLang="ko-KR" sz="1000" dirty="0" smtClean="0">
                <a:solidFill>
                  <a:srgbClr val="FF0000"/>
                </a:solidFill>
              </a:rPr>
              <a:t>*</a:t>
            </a:r>
            <a:endParaRPr sz="1000" b="0" i="0" u="none" strike="noStrike" cap="none" dirty="0">
              <a:solidFill>
                <a:srgbClr val="FF0000"/>
              </a:solidFill>
              <a:sym typeface="Arial"/>
            </a:endParaRPr>
          </a:p>
        </p:txBody>
      </p:sp>
      <p:sp>
        <p:nvSpPr>
          <p:cNvPr id="89" name="Google Shape;249;p41"/>
          <p:cNvSpPr/>
          <p:nvPr/>
        </p:nvSpPr>
        <p:spPr>
          <a:xfrm>
            <a:off x="2202452" y="4975843"/>
            <a:ext cx="2743819" cy="360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" name="Google Shape;191;p40"/>
          <p:cNvGraphicFramePr/>
          <p:nvPr>
            <p:extLst>
              <p:ext uri="{D42A27DB-BD31-4B8C-83A1-F6EECF244321}">
                <p14:modId xmlns:p14="http://schemas.microsoft.com/office/powerpoint/2010/main" val="2644469573"/>
              </p:ext>
            </p:extLst>
          </p:nvPr>
        </p:nvGraphicFramePr>
        <p:xfrm>
          <a:off x="1078065" y="6023239"/>
          <a:ext cx="3016764" cy="739610"/>
        </p:xfrm>
        <a:graphic>
          <a:graphicData uri="http://schemas.openxmlformats.org/drawingml/2006/table">
            <a:tbl>
              <a:tblPr firstRow="1" bandRow="1">
                <a:noFill/>
                <a:tableStyleId>{886EACA0-F0CC-4CC7-8EF1-4C8A09502556}</a:tableStyleId>
              </a:tblPr>
              <a:tblGrid>
                <a:gridCol w="788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의뢰일자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입고일자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/>
                        <a:t>검사항목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/>
                        <a:t>2021-01-01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</a:rPr>
                        <a:t>2021-04-28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u="none" strike="noStrike" cap="none" dirty="0" smtClean="0"/>
                        <a:t>위암</a:t>
                      </a:r>
                      <a:r>
                        <a:rPr lang="en-US" altLang="ko-KR" sz="900" u="none" strike="noStrike" cap="none" baseline="0" dirty="0" smtClean="0"/>
                        <a:t>  </a:t>
                      </a:r>
                      <a:r>
                        <a:rPr lang="ko-KR" altLang="en-US" sz="900" u="none" strike="noStrike" cap="none" baseline="0" dirty="0" smtClean="0"/>
                        <a:t>간암 </a:t>
                      </a:r>
                      <a:r>
                        <a:rPr lang="en-US" altLang="ko-KR" sz="900" u="none" strike="noStrike" cap="none" baseline="0" dirty="0" smtClean="0"/>
                        <a:t>  </a:t>
                      </a:r>
                      <a:r>
                        <a:rPr lang="ko-KR" altLang="en-US" sz="900" u="none" strike="noStrike" cap="none" baseline="0" dirty="0" smtClean="0"/>
                        <a:t>폐암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u="none" strike="noStrike" cap="none" dirty="0" smtClean="0">
                          <a:solidFill>
                            <a:schemeClr val="dk1"/>
                          </a:solidFill>
                        </a:rPr>
                        <a:t>2022-07-09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파킨스병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,</a:t>
                      </a:r>
                      <a:r>
                        <a:rPr lang="en-US" altLang="ko-KR" sz="900" b="0" i="0" u="none" strike="noStrike" cap="none" baseline="0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   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당뇨</a:t>
                      </a:r>
                      <a:endParaRPr sz="9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strike="noStrike" cap="none" dirty="0" smtClean="0">
                <a:solidFill>
                  <a:schemeClr val="lt1"/>
                </a:solidFill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sym typeface="Arial"/>
            </a:endParaRPr>
          </a:p>
        </p:txBody>
      </p:sp>
      <p:sp>
        <p:nvSpPr>
          <p:cNvPr id="103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42;p39"/>
          <p:cNvSpPr txBox="1"/>
          <p:nvPr/>
        </p:nvSpPr>
        <p:spPr>
          <a:xfrm>
            <a:off x="7432913" y="414229"/>
            <a:ext cx="12156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sng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sng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217;p41"/>
          <p:cNvSpPr/>
          <p:nvPr/>
        </p:nvSpPr>
        <p:spPr>
          <a:xfrm>
            <a:off x="8648613" y="1349113"/>
            <a:ext cx="742511" cy="285876"/>
          </a:xfrm>
          <a:prstGeom prst="roundRect">
            <a:avLst>
              <a:gd name="adj" fmla="val 11182"/>
            </a:avLst>
          </a:prstGeom>
          <a:solidFill>
            <a:srgbClr val="A8D08C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4000" rIns="9142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다운</a:t>
            </a:r>
            <a:r>
              <a:rPr lang="en-US" sz="900" b="1" i="0" u="none" strike="noStrike" cap="none" dirty="0" err="1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로드</a:t>
            </a:r>
            <a:endParaRPr sz="900" b="1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50" name="Google Shape;250;p41"/>
          <p:cNvGrpSpPr/>
          <p:nvPr/>
        </p:nvGrpSpPr>
        <p:grpSpPr>
          <a:xfrm>
            <a:off x="10574977" y="2605662"/>
            <a:ext cx="293098" cy="494786"/>
            <a:chOff x="5294313" y="2197100"/>
            <a:chExt cx="500483" cy="844878"/>
          </a:xfrm>
        </p:grpSpPr>
        <p:sp>
          <p:nvSpPr>
            <p:cNvPr id="251" name="Google Shape;251;p41"/>
            <p:cNvSpPr/>
            <p:nvPr/>
          </p:nvSpPr>
          <p:spPr>
            <a:xfrm>
              <a:off x="5418559" y="2453016"/>
              <a:ext cx="376237" cy="588962"/>
            </a:xfrm>
            <a:custGeom>
              <a:avLst/>
              <a:gdLst/>
              <a:ahLst/>
              <a:cxnLst/>
              <a:rect l="l" t="t" r="r" b="b"/>
              <a:pathLst>
                <a:path w="495" h="773" extrusionOk="0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>
              <a:off x="5294313" y="2197100"/>
              <a:ext cx="307975" cy="231775"/>
            </a:xfrm>
            <a:custGeom>
              <a:avLst/>
              <a:gdLst/>
              <a:ahLst/>
              <a:cxnLst/>
              <a:rect l="l" t="t" r="r" b="b"/>
              <a:pathLst>
                <a:path w="405" h="303" extrusionOk="0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 cmpd="sng">
              <a:solidFill>
                <a:srgbClr val="3483C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15" name="Google Shape;237;p41"/>
          <p:cNvSpPr/>
          <p:nvPr/>
        </p:nvSpPr>
        <p:spPr>
          <a:xfrm>
            <a:off x="2230142" y="5344493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무</a:t>
            </a:r>
            <a:r>
              <a:rPr lang="en-US" altLang="ko-KR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형제</a:t>
            </a:r>
            <a:r>
              <a:rPr lang="en-US" altLang="ko-KR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부모</a:t>
            </a:r>
            <a:r>
              <a:rPr lang="en-US" altLang="ko-KR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본인 등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238;p41"/>
          <p:cNvSpPr txBox="1"/>
          <p:nvPr/>
        </p:nvSpPr>
        <p:spPr>
          <a:xfrm>
            <a:off x="1332436" y="5393667"/>
            <a:ext cx="70403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altLang="en-US" sz="1000" b="0" i="0" u="none" strike="noStrike" cap="none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암발생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247;p41"/>
          <p:cNvSpPr/>
          <p:nvPr/>
        </p:nvSpPr>
        <p:spPr>
          <a:xfrm>
            <a:off x="4145403" y="5458205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239;p41"/>
          <p:cNvSpPr txBox="1"/>
          <p:nvPr/>
        </p:nvSpPr>
        <p:spPr>
          <a:xfrm>
            <a:off x="1362730" y="5694703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암종류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244;p41"/>
          <p:cNvSpPr/>
          <p:nvPr/>
        </p:nvSpPr>
        <p:spPr>
          <a:xfrm>
            <a:off x="2221107" y="5707484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폐암</a:t>
            </a:r>
            <a:r>
              <a:rPr lang="en-US" altLang="ko-KR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위암</a:t>
            </a:r>
            <a:r>
              <a:rPr lang="en-US" altLang="ko-KR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간암등</a:t>
            </a: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다중 선택가능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6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1275193" y="412204"/>
            <a:ext cx="619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2981285" y="41655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42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8" name="Google Shape;268;p42"/>
          <p:cNvSpPr/>
          <p:nvPr/>
        </p:nvSpPr>
        <p:spPr>
          <a:xfrm>
            <a:off x="855205" y="917315"/>
            <a:ext cx="12061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2061345" y="427638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2"/>
          <p:cNvSpPr/>
          <p:nvPr/>
        </p:nvSpPr>
        <p:spPr>
          <a:xfrm>
            <a:off x="970371" y="1394160"/>
            <a:ext cx="1462229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ID/이름</a:t>
            </a:r>
            <a:endParaRPr sz="10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2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2121796" y="1472507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42"/>
          <p:cNvGrpSpPr/>
          <p:nvPr/>
        </p:nvGrpSpPr>
        <p:grpSpPr>
          <a:xfrm>
            <a:off x="8626718" y="1401031"/>
            <a:ext cx="1279256" cy="285893"/>
            <a:chOff x="9321012" y="1401031"/>
            <a:chExt cx="1279256" cy="285893"/>
          </a:xfrm>
        </p:grpSpPr>
        <p:sp>
          <p:nvSpPr>
            <p:cNvPr id="276" name="Google Shape;276;p42"/>
            <p:cNvSpPr/>
            <p:nvPr/>
          </p:nvSpPr>
          <p:spPr>
            <a:xfrm>
              <a:off x="9321012" y="1401031"/>
              <a:ext cx="1279256" cy="285893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검사결과 업로드</a:t>
              </a:r>
              <a:endParaRPr sz="900" b="1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277" name="Google Shape;277;p42" descr="https://t1.daumcdn.net/cfile/tistory/242A7F4B55A48CAE16"/>
            <p:cNvPicPr preferRelativeResize="0"/>
            <p:nvPr/>
          </p:nvPicPr>
          <p:blipFill rotWithShape="1">
            <a:blip r:embed="rId3">
              <a:alphaModFix/>
            </a:blip>
            <a:srcRect l="5354" t="7425" r="63988" b="47661"/>
            <a:stretch/>
          </p:blipFill>
          <p:spPr>
            <a:xfrm>
              <a:off x="9366405" y="1450312"/>
              <a:ext cx="230945" cy="2087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42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2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5040882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42" descr="&lt;SmartSettings&gt;&lt;SmartResize enabled=&quot;True&quot; minWidth=&quot;12&quot; minHeight=&quot;12&quot; /&gt;&lt;/SmartSettings&gt;"/>
          <p:cNvGrpSpPr/>
          <p:nvPr/>
        </p:nvGrpSpPr>
        <p:grpSpPr>
          <a:xfrm>
            <a:off x="5024406" y="2944129"/>
            <a:ext cx="494321" cy="241995"/>
            <a:chOff x="1642629" y="1920028"/>
            <a:chExt cx="494321" cy="241995"/>
          </a:xfrm>
        </p:grpSpPr>
        <p:sp>
          <p:nvSpPr>
            <p:cNvPr id="284" name="Google Shape;284;p42"/>
            <p:cNvSpPr/>
            <p:nvPr/>
          </p:nvSpPr>
          <p:spPr>
            <a:xfrm>
              <a:off x="1642629" y="1920028"/>
              <a:ext cx="494321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64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Back</a:t>
              </a:r>
              <a:endParaRPr/>
            </a:p>
          </p:txBody>
        </p:sp>
        <p:sp>
          <p:nvSpPr>
            <p:cNvPr id="285" name="Google Shape;285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1722665" y="1991324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86" name="Google Shape;286;p42"/>
          <p:cNvSpPr txBox="1"/>
          <p:nvPr/>
        </p:nvSpPr>
        <p:spPr>
          <a:xfrm>
            <a:off x="5518727" y="2927541"/>
            <a:ext cx="62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2  3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42"/>
          <p:cNvGrpSpPr/>
          <p:nvPr/>
        </p:nvGrpSpPr>
        <p:grpSpPr>
          <a:xfrm>
            <a:off x="6138831" y="2941779"/>
            <a:ext cx="465796" cy="241995"/>
            <a:chOff x="7589857" y="3485809"/>
            <a:chExt cx="465796" cy="241995"/>
          </a:xfrm>
        </p:grpSpPr>
        <p:sp>
          <p:nvSpPr>
            <p:cNvPr id="288" name="Google Shape;288;p42"/>
            <p:cNvSpPr/>
            <p:nvPr/>
          </p:nvSpPr>
          <p:spPr>
            <a:xfrm>
              <a:off x="7589857" y="3485809"/>
              <a:ext cx="465796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45700" rIns="180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Next</a:t>
              </a:r>
              <a:endParaRPr/>
            </a:p>
          </p:txBody>
        </p:sp>
        <p:sp>
          <p:nvSpPr>
            <p:cNvPr id="289" name="Google Shape;289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7921500" y="3565513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90" name="Google Shape;290;p42"/>
          <p:cNvSpPr/>
          <p:nvPr/>
        </p:nvSpPr>
        <p:spPr>
          <a:xfrm>
            <a:off x="3846029" y="1416320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2472387" y="1393635"/>
            <a:ext cx="1288972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ID/사용자명</a:t>
            </a:r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2" name="Google Shape;292;p42"/>
          <p:cNvGraphicFramePr/>
          <p:nvPr>
            <p:extLst>
              <p:ext uri="{D42A27DB-BD31-4B8C-83A1-F6EECF244321}">
                <p14:modId xmlns:p14="http://schemas.microsoft.com/office/powerpoint/2010/main" val="3492030193"/>
              </p:ext>
            </p:extLst>
          </p:nvPr>
        </p:nvGraphicFramePr>
        <p:xfrm>
          <a:off x="1105645" y="1760753"/>
          <a:ext cx="8802850" cy="101763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37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7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7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검사자명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의뢰일자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결과등록일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SNP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결과 타입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 Risk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strike="noStrike" cap="none">
                          <a:solidFill>
                            <a:srgbClr val="0088CC"/>
                          </a:solidFill>
                          <a:hlinkClick r:id="rId4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8704050010</a:t>
                      </a:r>
                      <a:endParaRPr sz="10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권*환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rs3984955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sng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  <a:hlinkClick r:id="rId4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5904050334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박*윤</a:t>
                      </a:r>
                      <a:endParaRPr sz="1000" b="0" i="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2023-01-24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2023-01-25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rs94859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TT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3" name="Google Shape;293;p42"/>
          <p:cNvSpPr/>
          <p:nvPr/>
        </p:nvSpPr>
        <p:spPr>
          <a:xfrm>
            <a:off x="10621034" y="1429264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4408770" y="1424258"/>
            <a:ext cx="86279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결과지출력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5340134" y="1424252"/>
            <a:ext cx="136546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🗐 기간별 결과지 출력</a:t>
            </a:r>
            <a:endParaRPr sz="10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7180365" y="2899837"/>
            <a:ext cx="4440828" cy="588417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1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 출력</a:t>
            </a:r>
            <a:r>
              <a:rPr lang="en-US" sz="11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반드시 검색 후 결과가 있을 경우 만  결과지 출력이 가능함</a:t>
            </a:r>
            <a:endParaRPr sz="11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97" name="Google Shape;297;p42"/>
          <p:cNvGraphicFramePr/>
          <p:nvPr/>
        </p:nvGraphicFramePr>
        <p:xfrm>
          <a:off x="448909" y="3117412"/>
          <a:ext cx="4591950" cy="784025"/>
        </p:xfrm>
        <a:graphic>
          <a:graphicData uri="http://schemas.openxmlformats.org/drawingml/2006/table">
            <a:tbl>
              <a:tblPr firstRow="1" bandRow="1">
                <a:noFill/>
                <a:tableStyleId>{886EACA0-F0CC-4CC7-8EF1-4C8A09502556}</a:tableStyleId>
              </a:tblPr>
              <a:tblGrid>
                <a:gridCol w="153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이름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ID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검사일자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홍*동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1321432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2022-04-05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홍*동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1321432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2023-03-10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8" name="Google Shape;298;p42"/>
          <p:cNvSpPr/>
          <p:nvPr/>
        </p:nvSpPr>
        <p:spPr>
          <a:xfrm>
            <a:off x="3949002" y="1705525"/>
            <a:ext cx="242316" cy="1357252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BFBFBF"/>
          </a:solidFill>
          <a:ln w="25400" cap="flat" cmpd="sng">
            <a:solidFill>
              <a:srgbClr val="323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2"/>
          <p:cNvSpPr/>
          <p:nvPr/>
        </p:nvSpPr>
        <p:spPr>
          <a:xfrm>
            <a:off x="741803" y="4005598"/>
            <a:ext cx="4241988" cy="1887201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검색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동일한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검사자에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2건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이상의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검사결과가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존재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할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경우는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먼저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출력대상을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선택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할 수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있도록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팝업목록을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출력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하고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목록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중 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클릭한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일자의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정보를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메인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화면에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목록으로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출력한다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단건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일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경우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는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팝업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선택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없이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바로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메인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목록이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 smtClean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조회</a:t>
            </a:r>
            <a:endParaRPr lang="en-US" sz="1100" b="0" i="0" u="none" strike="noStrike" cap="none" dirty="0" smtClean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err="1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시용자</a:t>
            </a:r>
            <a:r>
              <a:rPr lang="en-US" altLang="ko-KR" sz="1100" b="1" dirty="0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 </a:t>
            </a:r>
            <a:r>
              <a:rPr lang="ko-KR" altLang="en-US" sz="1100" b="1" dirty="0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또는 사용자명 검색 후 목록 조회</a:t>
            </a:r>
            <a:r>
              <a:rPr lang="en-US" altLang="ko-KR" sz="1100" b="1" dirty="0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lang="ko-KR" altLang="en-US" sz="1100" b="1" dirty="0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검색조건이 없이는 조회불가</a:t>
            </a:r>
            <a:r>
              <a:rPr lang="en-US" altLang="ko-KR" sz="1100" b="1" dirty="0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ko-KR" altLang="en-US" sz="1100" b="1" dirty="0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디폴트 목록 조회 </a:t>
            </a:r>
            <a:r>
              <a:rPr lang="ko-KR" altLang="en-US" sz="1100" b="1" dirty="0" err="1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없슴</a:t>
            </a:r>
            <a:r>
              <a:rPr lang="en-US" altLang="ko-KR" sz="1100" b="1" dirty="0" smtClean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100" b="1" i="0" u="none" strike="noStrike" cap="none" dirty="0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00" name="Google Shape;300;p42"/>
          <p:cNvCxnSpPr>
            <a:endCxn id="294" idx="2"/>
          </p:cNvCxnSpPr>
          <p:nvPr/>
        </p:nvCxnSpPr>
        <p:spPr>
          <a:xfrm rot="10800000">
            <a:off x="4840168" y="1679514"/>
            <a:ext cx="2340300" cy="1698600"/>
          </a:xfrm>
          <a:prstGeom prst="curvedConnector2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301" name="Google Shape;301;p42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5483371" y="3584366"/>
            <a:ext cx="5878896" cy="2966689"/>
            <a:chOff x="1615921" y="1017671"/>
            <a:chExt cx="788147" cy="1493610"/>
          </a:xfrm>
        </p:grpSpPr>
        <p:sp>
          <p:nvSpPr>
            <p:cNvPr id="302" name="Google Shape;302;p42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en-US" sz="1000" b="1" i="0" u="none" strike="noStrike" cap="none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기간별 결과지 출력</a:t>
              </a:r>
              <a:endParaRPr sz="1000" b="1" i="0" u="none" strike="noStrike" cap="non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303" name="Google Shape;303;p42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7155" y="1132997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304" name="Google Shape;304;p42"/>
          <p:cNvSpPr/>
          <p:nvPr/>
        </p:nvSpPr>
        <p:spPr>
          <a:xfrm>
            <a:off x="6083583" y="3888700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2"/>
          <p:cNvSpPr/>
          <p:nvPr/>
        </p:nvSpPr>
        <p:spPr>
          <a:xfrm>
            <a:off x="7065421" y="3917143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6" name="Google Shape;306;p42"/>
          <p:cNvSpPr txBox="1"/>
          <p:nvPr/>
        </p:nvSpPr>
        <p:spPr>
          <a:xfrm>
            <a:off x="7283471" y="3850054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2"/>
          <p:cNvSpPr/>
          <p:nvPr/>
        </p:nvSpPr>
        <p:spPr>
          <a:xfrm>
            <a:off x="7532766" y="3883005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2"/>
          <p:cNvSpPr/>
          <p:nvPr/>
        </p:nvSpPr>
        <p:spPr>
          <a:xfrm>
            <a:off x="8514604" y="3911448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9" name="Google Shape;309;p42"/>
          <p:cNvSpPr txBox="1"/>
          <p:nvPr/>
        </p:nvSpPr>
        <p:spPr>
          <a:xfrm>
            <a:off x="5541958" y="3919272"/>
            <a:ext cx="5693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의뢰일</a:t>
            </a:r>
            <a:endParaRPr sz="10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42"/>
          <p:cNvSpPr/>
          <p:nvPr/>
        </p:nvSpPr>
        <p:spPr>
          <a:xfrm>
            <a:off x="8903056" y="3865925"/>
            <a:ext cx="1146877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출력/미출력</a:t>
            </a:r>
            <a:endParaRPr sz="10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2"/>
          <p:cNvSpPr/>
          <p:nvPr/>
        </p:nvSpPr>
        <p:spPr>
          <a:xfrm>
            <a:off x="9860599" y="3968311"/>
            <a:ext cx="127555" cy="136273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2"/>
          <p:cNvSpPr txBox="1"/>
          <p:nvPr/>
        </p:nvSpPr>
        <p:spPr>
          <a:xfrm>
            <a:off x="5541952" y="4257946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정렬순서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3" name="Google Shape;313;p42"/>
          <p:cNvSpPr/>
          <p:nvPr/>
        </p:nvSpPr>
        <p:spPr>
          <a:xfrm>
            <a:off x="6219011" y="4213066"/>
            <a:ext cx="1426390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의뢰일/ID/검사자명</a:t>
            </a:r>
            <a:endParaRPr sz="10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2"/>
          <p:cNvSpPr/>
          <p:nvPr/>
        </p:nvSpPr>
        <p:spPr>
          <a:xfrm>
            <a:off x="7506002" y="4303373"/>
            <a:ext cx="102715" cy="111135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2"/>
          <p:cNvSpPr/>
          <p:nvPr/>
        </p:nvSpPr>
        <p:spPr>
          <a:xfrm>
            <a:off x="9453282" y="4588486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조회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6" name="Google Shape;316;p42"/>
          <p:cNvSpPr/>
          <p:nvPr/>
        </p:nvSpPr>
        <p:spPr>
          <a:xfrm>
            <a:off x="10594171" y="4599319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닫기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7" name="Google Shape;317;p42"/>
          <p:cNvSpPr/>
          <p:nvPr/>
        </p:nvSpPr>
        <p:spPr>
          <a:xfrm>
            <a:off x="10020565" y="4588480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🗐 출력</a:t>
            </a:r>
            <a:endParaRPr sz="9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18" name="Google Shape;318;p42"/>
          <p:cNvGraphicFramePr/>
          <p:nvPr>
            <p:extLst>
              <p:ext uri="{D42A27DB-BD31-4B8C-83A1-F6EECF244321}">
                <p14:modId xmlns:p14="http://schemas.microsoft.com/office/powerpoint/2010/main" val="1846023918"/>
              </p:ext>
            </p:extLst>
          </p:nvPr>
        </p:nvGraphicFramePr>
        <p:xfrm>
          <a:off x="5755293" y="4917890"/>
          <a:ext cx="4199350" cy="751850"/>
        </p:xfrm>
        <a:graphic>
          <a:graphicData uri="http://schemas.openxmlformats.org/drawingml/2006/table">
            <a:tbl>
              <a:tblPr firstRow="1" bandRow="1">
                <a:noFill/>
                <a:tableStyleId>{886EACA0-F0CC-4CC7-8EF1-4C8A09502556}</a:tableStyleId>
              </a:tblPr>
              <a:tblGrid>
                <a:gridCol w="3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의뢰일자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/>
                        <a:t>검사자명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ID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출력여부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2023-02-10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홍*동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1321432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N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2023-02-10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이*신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A87493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Y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9" name="Google Shape;319;p42"/>
          <p:cNvSpPr/>
          <p:nvPr/>
        </p:nvSpPr>
        <p:spPr>
          <a:xfrm>
            <a:off x="5894279" y="4988331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0" name="Google Shape;320;p42"/>
          <p:cNvSpPr/>
          <p:nvPr/>
        </p:nvSpPr>
        <p:spPr>
          <a:xfrm>
            <a:off x="5899472" y="5245769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5890765" y="5489357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22" name="Google Shape;322;p42"/>
          <p:cNvCxnSpPr>
            <a:stCxn id="302" idx="1"/>
            <a:endCxn id="295" idx="2"/>
          </p:cNvCxnSpPr>
          <p:nvPr/>
        </p:nvCxnSpPr>
        <p:spPr>
          <a:xfrm rot="10800000" flipH="1">
            <a:off x="5483371" y="1679511"/>
            <a:ext cx="539400" cy="3388200"/>
          </a:xfrm>
          <a:prstGeom prst="curvedConnector4">
            <a:avLst>
              <a:gd name="adj1" fmla="val -42381"/>
              <a:gd name="adj2" fmla="val 71890"/>
            </a:avLst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23" name="Google Shape;323;p42"/>
          <p:cNvSpPr/>
          <p:nvPr/>
        </p:nvSpPr>
        <p:spPr>
          <a:xfrm>
            <a:off x="1253964" y="1887577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256900" y="2215817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251044" y="2552849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225;p41"/>
          <p:cNvSpPr/>
          <p:nvPr/>
        </p:nvSpPr>
        <p:spPr>
          <a:xfrm>
            <a:off x="10005457" y="1415791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142;p39"/>
          <p:cNvSpPr txBox="1"/>
          <p:nvPr/>
        </p:nvSpPr>
        <p:spPr>
          <a:xfrm>
            <a:off x="7432914" y="414229"/>
            <a:ext cx="122705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sng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1275193" y="412204"/>
            <a:ext cx="619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2981285" y="41655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42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8" name="Google Shape;268;p42"/>
          <p:cNvSpPr/>
          <p:nvPr/>
        </p:nvSpPr>
        <p:spPr>
          <a:xfrm>
            <a:off x="855206" y="917315"/>
            <a:ext cx="12665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2061345" y="427638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2"/>
          <p:cNvSpPr/>
          <p:nvPr/>
        </p:nvSpPr>
        <p:spPr>
          <a:xfrm>
            <a:off x="970371" y="1394160"/>
            <a:ext cx="1462229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ID/이름</a:t>
            </a:r>
            <a:endParaRPr sz="10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2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2121796" y="1472507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42"/>
          <p:cNvGrpSpPr/>
          <p:nvPr/>
        </p:nvGrpSpPr>
        <p:grpSpPr>
          <a:xfrm>
            <a:off x="8626718" y="1401031"/>
            <a:ext cx="1279256" cy="285893"/>
            <a:chOff x="9321012" y="1401031"/>
            <a:chExt cx="1279256" cy="285893"/>
          </a:xfrm>
        </p:grpSpPr>
        <p:sp>
          <p:nvSpPr>
            <p:cNvPr id="276" name="Google Shape;276;p42"/>
            <p:cNvSpPr/>
            <p:nvPr/>
          </p:nvSpPr>
          <p:spPr>
            <a:xfrm>
              <a:off x="9321012" y="1401031"/>
              <a:ext cx="1279256" cy="285893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검사결과 업로드</a:t>
              </a:r>
              <a:endParaRPr sz="900" b="1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277" name="Google Shape;277;p42" descr="https://t1.daumcdn.net/cfile/tistory/242A7F4B55A48CAE16"/>
            <p:cNvPicPr preferRelativeResize="0"/>
            <p:nvPr/>
          </p:nvPicPr>
          <p:blipFill rotWithShape="1">
            <a:blip r:embed="rId3">
              <a:alphaModFix/>
            </a:blip>
            <a:srcRect l="5354" t="7425" r="63988" b="47661"/>
            <a:stretch/>
          </p:blipFill>
          <p:spPr>
            <a:xfrm>
              <a:off x="9366405" y="1450312"/>
              <a:ext cx="230945" cy="2087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42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2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5040882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42" descr="&lt;SmartSettings&gt;&lt;SmartResize enabled=&quot;True&quot; minWidth=&quot;12&quot; minHeight=&quot;12&quot; /&gt;&lt;/SmartSettings&gt;"/>
          <p:cNvGrpSpPr/>
          <p:nvPr/>
        </p:nvGrpSpPr>
        <p:grpSpPr>
          <a:xfrm>
            <a:off x="5024406" y="2944129"/>
            <a:ext cx="494321" cy="241995"/>
            <a:chOff x="1642629" y="1920028"/>
            <a:chExt cx="494321" cy="241995"/>
          </a:xfrm>
        </p:grpSpPr>
        <p:sp>
          <p:nvSpPr>
            <p:cNvPr id="284" name="Google Shape;284;p42"/>
            <p:cNvSpPr/>
            <p:nvPr/>
          </p:nvSpPr>
          <p:spPr>
            <a:xfrm>
              <a:off x="1642629" y="1920028"/>
              <a:ext cx="494321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64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Back</a:t>
              </a:r>
              <a:endParaRPr/>
            </a:p>
          </p:txBody>
        </p:sp>
        <p:sp>
          <p:nvSpPr>
            <p:cNvPr id="285" name="Google Shape;285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1722665" y="1991324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86" name="Google Shape;286;p42"/>
          <p:cNvSpPr txBox="1"/>
          <p:nvPr/>
        </p:nvSpPr>
        <p:spPr>
          <a:xfrm>
            <a:off x="5518727" y="2927541"/>
            <a:ext cx="62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2  3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42"/>
          <p:cNvGrpSpPr/>
          <p:nvPr/>
        </p:nvGrpSpPr>
        <p:grpSpPr>
          <a:xfrm>
            <a:off x="6138831" y="2941779"/>
            <a:ext cx="465796" cy="241995"/>
            <a:chOff x="7589857" y="3485809"/>
            <a:chExt cx="465796" cy="241995"/>
          </a:xfrm>
        </p:grpSpPr>
        <p:sp>
          <p:nvSpPr>
            <p:cNvPr id="288" name="Google Shape;288;p42"/>
            <p:cNvSpPr/>
            <p:nvPr/>
          </p:nvSpPr>
          <p:spPr>
            <a:xfrm>
              <a:off x="7589857" y="3485809"/>
              <a:ext cx="465796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45700" rIns="180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Next</a:t>
              </a:r>
              <a:endParaRPr/>
            </a:p>
          </p:txBody>
        </p:sp>
        <p:sp>
          <p:nvSpPr>
            <p:cNvPr id="289" name="Google Shape;289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7921500" y="3565513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90" name="Google Shape;290;p42"/>
          <p:cNvSpPr/>
          <p:nvPr/>
        </p:nvSpPr>
        <p:spPr>
          <a:xfrm>
            <a:off x="3846029" y="1416320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2472387" y="1393635"/>
            <a:ext cx="1288972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ID/사용자명</a:t>
            </a:r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2" name="Google Shape;292;p42"/>
          <p:cNvGraphicFramePr/>
          <p:nvPr>
            <p:extLst>
              <p:ext uri="{D42A27DB-BD31-4B8C-83A1-F6EECF244321}">
                <p14:modId xmlns:p14="http://schemas.microsoft.com/office/powerpoint/2010/main" val="2138585889"/>
              </p:ext>
            </p:extLst>
          </p:nvPr>
        </p:nvGraphicFramePr>
        <p:xfrm>
          <a:off x="1105645" y="1760753"/>
          <a:ext cx="8864730" cy="101763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37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7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7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검사자명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의뢰일자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결과등록일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SNP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결과 타입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 Risk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strike="noStrike" cap="none">
                          <a:solidFill>
                            <a:srgbClr val="0088CC"/>
                          </a:solidFill>
                          <a:hlinkClick r:id="rId4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8704050010</a:t>
                      </a:r>
                      <a:endParaRPr sz="10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권*환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rs3984955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sng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  <a:hlinkClick r:id="rId4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5904050334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박*윤</a:t>
                      </a:r>
                      <a:endParaRPr sz="1000" b="0" i="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2023-01-24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2023-01-25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rs94859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TT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3" name="Google Shape;293;p42"/>
          <p:cNvSpPr/>
          <p:nvPr/>
        </p:nvSpPr>
        <p:spPr>
          <a:xfrm>
            <a:off x="10621034" y="1429264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4408770" y="1424258"/>
            <a:ext cx="86279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결과지출력</a:t>
            </a:r>
            <a:endParaRPr sz="10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5340134" y="1424252"/>
            <a:ext cx="136546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🗐 기간별 결과지 출력</a:t>
            </a:r>
            <a:endParaRPr sz="10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8" name="Google Shape;298;p42"/>
          <p:cNvSpPr/>
          <p:nvPr/>
        </p:nvSpPr>
        <p:spPr>
          <a:xfrm>
            <a:off x="10120657" y="1688945"/>
            <a:ext cx="242316" cy="1357252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BFBFBF"/>
          </a:solidFill>
          <a:ln w="25400" cap="flat" cmpd="sng">
            <a:solidFill>
              <a:srgbClr val="323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2"/>
          <p:cNvSpPr/>
          <p:nvPr/>
        </p:nvSpPr>
        <p:spPr>
          <a:xfrm>
            <a:off x="741803" y="4005598"/>
            <a:ext cx="4241988" cy="2378269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의뢰일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자</a:t>
            </a:r>
            <a:r>
              <a:rPr 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 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환자</a:t>
            </a:r>
            <a:r>
              <a:rPr lang="en-US" altLang="ko-KR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ID  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입력 후 의뢰일자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에  커서 </a:t>
            </a:r>
            <a:r>
              <a:rPr lang="ko-KR" altLang="en-US" sz="1100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선택시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서버에서 해당환자의 의뢰일자 목록 조회</a:t>
            </a:r>
            <a:endParaRPr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분류코드</a:t>
            </a:r>
            <a:r>
              <a:rPr lang="en-US" altLang="ko-KR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 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서버에서 등록된 분류코드 목록 조회</a:t>
            </a:r>
            <a:endParaRPr lang="en-US" sz="1100" b="0" i="0" u="none" strike="noStrike" cap="none" dirty="0" smtClean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SNP</a:t>
            </a:r>
            <a:r>
              <a:rPr lang="ko-KR" altLang="en-US" sz="1100" b="1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코드 </a:t>
            </a:r>
            <a:r>
              <a:rPr lang="en-US" altLang="ko-KR" sz="1100" b="1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 </a:t>
            </a:r>
            <a:r>
              <a:rPr lang="ko-KR" altLang="en-US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분류코드 </a:t>
            </a:r>
            <a:r>
              <a:rPr lang="ko-KR" altLang="en-US" sz="1100" i="0" u="none" strike="noStrike" cap="none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선택시</a:t>
            </a:r>
            <a:r>
              <a:rPr lang="ko-KR" altLang="en-US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해당 분류코드에 등록된 </a:t>
            </a:r>
            <a:r>
              <a:rPr lang="en-US" altLang="ko-KR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SNP </a:t>
            </a:r>
            <a:r>
              <a:rPr lang="ko-KR" altLang="en-US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코드 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목록 조회</a:t>
            </a:r>
            <a:endParaRPr lang="en-US" altLang="ko-KR" sz="1100" dirty="0" smtClean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indent="-171450">
              <a:spcBef>
                <a:spcPts val="1200"/>
              </a:spcBef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결과타입</a:t>
            </a:r>
            <a:r>
              <a:rPr lang="en-US" altLang="ko-KR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:  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SNP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코드</a:t>
            </a:r>
            <a:r>
              <a:rPr lang="ko-KR" altLang="en-US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 </a:t>
            </a:r>
            <a:r>
              <a:rPr lang="ko-KR" altLang="en-US" sz="1100" dirty="0" err="1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선택시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해당 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SNP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에 등록된 결과타입  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목록 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조회</a:t>
            </a:r>
            <a:endParaRPr lang="en-US" altLang="ko-KR" sz="1100" dirty="0" smtClean="0">
              <a:solidFill>
                <a:schemeClr val="tx1"/>
              </a:solidFill>
              <a:latin typeface="+mj-ea"/>
              <a:cs typeface="Quattrocento Sans"/>
              <a:sym typeface="Quattrocento Sans"/>
            </a:endParaRPr>
          </a:p>
          <a:p>
            <a:pPr marL="171450" indent="-171450">
              <a:spcBef>
                <a:spcPts val="1200"/>
              </a:spcBef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검사일자</a:t>
            </a:r>
            <a:r>
              <a:rPr lang="en-US" altLang="ko-KR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:  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오늘일자를 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default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값으로 </a:t>
            </a:r>
            <a:r>
              <a:rPr lang="ko-KR" altLang="en-US" sz="1100" dirty="0" err="1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셋팅</a:t>
            </a:r>
            <a:endParaRPr lang="en-US" altLang="ko-KR" sz="1100" dirty="0">
              <a:solidFill>
                <a:schemeClr val="tx1"/>
              </a:solidFill>
              <a:latin typeface="+mj-ea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endParaRPr sz="1100" i="0" u="none" strike="noStrike" cap="none" dirty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253964" y="1887577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256900" y="2215817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251044" y="2552849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225;p41"/>
          <p:cNvSpPr/>
          <p:nvPr/>
        </p:nvSpPr>
        <p:spPr>
          <a:xfrm>
            <a:off x="10005457" y="1415791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5" name="Google Shape;230;p41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7151370" y="3177950"/>
            <a:ext cx="4153468" cy="3138183"/>
            <a:chOff x="1615921" y="1017671"/>
            <a:chExt cx="788147" cy="1493610"/>
          </a:xfrm>
        </p:grpSpPr>
        <p:sp>
          <p:nvSpPr>
            <p:cNvPr id="66" name="Google Shape;231;p41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en-US" sz="1000" b="1" i="0" u="none" strike="noStrike" cap="none" dirty="0" err="1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검사</a:t>
              </a:r>
              <a:r>
                <a:rPr lang="ko-KR" altLang="en-US" sz="1000" b="1" i="0" u="none" strike="noStrike" cap="none" dirty="0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결과</a:t>
              </a:r>
              <a:r>
                <a:rPr lang="en-US" sz="1000" b="0" i="0" u="none" strike="noStrike" cap="none" dirty="0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r>
                <a:rPr lang="en-US" sz="1000" b="1" i="0" u="none" strike="noStrike" cap="none" dirty="0" err="1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추가</a:t>
              </a:r>
              <a:r>
                <a:rPr lang="en-US" sz="1000" b="1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/</a:t>
              </a:r>
              <a:r>
                <a:rPr lang="en-US" sz="1000" b="1" i="0" u="none" strike="noStrike" cap="none" dirty="0" err="1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수정</a:t>
              </a:r>
              <a:endParaRPr sz="1000" b="1" i="0" u="none" strike="noStrike" cap="none" dirty="0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7" name="Google Shape;232;p41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7155" y="1132997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68" name="Google Shape;233;p41"/>
          <p:cNvSpPr/>
          <p:nvPr/>
        </p:nvSpPr>
        <p:spPr>
          <a:xfrm>
            <a:off x="10042976" y="5995211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저장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234;p41"/>
          <p:cNvSpPr/>
          <p:nvPr/>
        </p:nvSpPr>
        <p:spPr>
          <a:xfrm>
            <a:off x="10662012" y="6028370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취소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" name="Google Shape;235;p41"/>
          <p:cNvSpPr txBox="1"/>
          <p:nvPr/>
        </p:nvSpPr>
        <p:spPr>
          <a:xfrm>
            <a:off x="7303809" y="3898672"/>
            <a:ext cx="9229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 smtClean="0">
                <a:solidFill>
                  <a:schemeClr val="tx1"/>
                </a:solidFill>
              </a:rPr>
              <a:t>의뢰일</a:t>
            </a:r>
            <a:r>
              <a:rPr lang="ko-KR" altLang="en-US" sz="1000" dirty="0">
                <a:solidFill>
                  <a:schemeClr val="tx1"/>
                </a:solidFill>
              </a:rPr>
              <a:t>자</a:t>
            </a:r>
            <a:r>
              <a:rPr lang="en-US" sz="10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36;p41"/>
          <p:cNvSpPr/>
          <p:nvPr/>
        </p:nvSpPr>
        <p:spPr>
          <a:xfrm>
            <a:off x="8358254" y="3839717"/>
            <a:ext cx="2244710" cy="288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2022-11=20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237;p41"/>
          <p:cNvSpPr/>
          <p:nvPr/>
        </p:nvSpPr>
        <p:spPr>
          <a:xfrm>
            <a:off x="8420574" y="4613731"/>
            <a:ext cx="2244710" cy="337904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암질환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238;p41"/>
          <p:cNvSpPr txBox="1"/>
          <p:nvPr/>
        </p:nvSpPr>
        <p:spPr>
          <a:xfrm>
            <a:off x="7341893" y="4721725"/>
            <a:ext cx="88971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-KR" altLang="en-US" sz="10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분류코드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240;p41"/>
          <p:cNvSpPr/>
          <p:nvPr/>
        </p:nvSpPr>
        <p:spPr>
          <a:xfrm>
            <a:off x="8430936" y="5013805"/>
            <a:ext cx="2199911" cy="288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 smtClean="0"/>
              <a:t>rs8743565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241;p41"/>
          <p:cNvSpPr txBox="1"/>
          <p:nvPr/>
        </p:nvSpPr>
        <p:spPr>
          <a:xfrm>
            <a:off x="7370483" y="5065694"/>
            <a:ext cx="104105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SNP</a:t>
            </a:r>
            <a:r>
              <a:rPr lang="ko-KR" altLang="en-US" sz="1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코드</a:t>
            </a:r>
            <a:r>
              <a:rPr lang="en-US" altLang="ko-KR" sz="1000" dirty="0">
                <a:solidFill>
                  <a:srgbClr val="FF0000"/>
                </a:solidFill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242;p41"/>
          <p:cNvSpPr txBox="1"/>
          <p:nvPr/>
        </p:nvSpPr>
        <p:spPr>
          <a:xfrm>
            <a:off x="7497189" y="3635744"/>
            <a:ext cx="4395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243;p41"/>
          <p:cNvSpPr/>
          <p:nvPr/>
        </p:nvSpPr>
        <p:spPr>
          <a:xfrm>
            <a:off x="8352714" y="3552929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3549469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245;p41"/>
          <p:cNvSpPr/>
          <p:nvPr/>
        </p:nvSpPr>
        <p:spPr>
          <a:xfrm>
            <a:off x="8430931" y="5376646"/>
            <a:ext cx="2158734" cy="288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246;p41"/>
          <p:cNvSpPr txBox="1"/>
          <p:nvPr/>
        </p:nvSpPr>
        <p:spPr>
          <a:xfrm>
            <a:off x="7370477" y="5353566"/>
            <a:ext cx="86113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-KR" altLang="en-US" sz="10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결과타입</a:t>
            </a:r>
            <a:r>
              <a:rPr lang="en-US" altLang="ko-KR" sz="1000" dirty="0" smtClean="0">
                <a:solidFill>
                  <a:srgbClr val="FF0000"/>
                </a:solidFill>
              </a:rPr>
              <a:t>*:</a:t>
            </a:r>
            <a:endParaRPr sz="10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247;p41"/>
          <p:cNvSpPr/>
          <p:nvPr/>
        </p:nvSpPr>
        <p:spPr>
          <a:xfrm>
            <a:off x="10469185" y="4726994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247;p41"/>
          <p:cNvSpPr/>
          <p:nvPr/>
        </p:nvSpPr>
        <p:spPr>
          <a:xfrm>
            <a:off x="10394037" y="3919452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247;p41"/>
          <p:cNvSpPr/>
          <p:nvPr/>
        </p:nvSpPr>
        <p:spPr>
          <a:xfrm>
            <a:off x="10418377" y="5082602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247;p41"/>
          <p:cNvSpPr/>
          <p:nvPr/>
        </p:nvSpPr>
        <p:spPr>
          <a:xfrm>
            <a:off x="10359102" y="5446677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470216" y="4292997"/>
            <a:ext cx="2129826" cy="252000"/>
            <a:chOff x="7878587" y="4134243"/>
            <a:chExt cx="1205731" cy="252000"/>
          </a:xfrm>
        </p:grpSpPr>
        <p:sp>
          <p:nvSpPr>
            <p:cNvPr id="100" name="Google Shape;304;p42"/>
            <p:cNvSpPr/>
            <p:nvPr/>
          </p:nvSpPr>
          <p:spPr>
            <a:xfrm>
              <a:off x="7878587" y="4134243"/>
              <a:ext cx="1205731" cy="252000"/>
            </a:xfrm>
            <a:prstGeom prst="roundRect">
              <a:avLst>
                <a:gd name="adj" fmla="val 28305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00575" tIns="64000" rIns="10057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305;p42"/>
            <p:cNvSpPr/>
            <p:nvPr/>
          </p:nvSpPr>
          <p:spPr>
            <a:xfrm>
              <a:off x="8933525" y="4162686"/>
              <a:ext cx="121154" cy="194254"/>
            </a:xfrm>
            <a:custGeom>
              <a:avLst/>
              <a:gdLst/>
              <a:ahLst/>
              <a:cxnLst/>
              <a:rect l="l" t="t" r="r" b="b"/>
              <a:pathLst>
                <a:path w="667" h="667" extrusionOk="0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02" name="Google Shape;309;p42"/>
          <p:cNvSpPr txBox="1"/>
          <p:nvPr/>
        </p:nvSpPr>
        <p:spPr>
          <a:xfrm>
            <a:off x="7403637" y="4337326"/>
            <a:ext cx="100790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1000" dirty="0" smtClean="0">
                <a:latin typeface="Malgun Gothic"/>
                <a:ea typeface="Malgun Gothic"/>
                <a:cs typeface="Malgun Gothic"/>
                <a:sym typeface="Malgun Gothic"/>
              </a:rPr>
              <a:t>검사일자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 smtClean="0">
                <a:solidFill>
                  <a:srgbClr val="FF0000"/>
                </a:solidFill>
              </a:rPr>
              <a:t>*:</a:t>
            </a:r>
            <a:endParaRPr sz="10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142;p39"/>
          <p:cNvSpPr txBox="1"/>
          <p:nvPr/>
        </p:nvSpPr>
        <p:spPr>
          <a:xfrm>
            <a:off x="7432913" y="414229"/>
            <a:ext cx="126453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sng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sng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sng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384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1275193" y="412204"/>
            <a:ext cx="619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2981285" y="41655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42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8" name="Google Shape;268;p42"/>
          <p:cNvSpPr/>
          <p:nvPr/>
        </p:nvSpPr>
        <p:spPr>
          <a:xfrm>
            <a:off x="855205" y="917315"/>
            <a:ext cx="167093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en-US" sz="1200" b="1" dirty="0" err="1" smtClean="0">
                <a:solidFill>
                  <a:srgbClr val="333333"/>
                </a:solidFill>
              </a:rPr>
              <a:t>UltraSEEK</a:t>
            </a:r>
            <a:r>
              <a:rPr 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2061345" y="427638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2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42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2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5040882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42" descr="&lt;SmartSettings&gt;&lt;SmartResize enabled=&quot;True&quot; minWidth=&quot;12&quot; minHeight=&quot;12&quot; /&gt;&lt;/SmartSettings&gt;"/>
          <p:cNvGrpSpPr/>
          <p:nvPr/>
        </p:nvGrpSpPr>
        <p:grpSpPr>
          <a:xfrm>
            <a:off x="5024406" y="3229879"/>
            <a:ext cx="494321" cy="241995"/>
            <a:chOff x="1642629" y="1920028"/>
            <a:chExt cx="494321" cy="241995"/>
          </a:xfrm>
        </p:grpSpPr>
        <p:sp>
          <p:nvSpPr>
            <p:cNvPr id="284" name="Google Shape;284;p42"/>
            <p:cNvSpPr/>
            <p:nvPr/>
          </p:nvSpPr>
          <p:spPr>
            <a:xfrm>
              <a:off x="1642629" y="1920028"/>
              <a:ext cx="494321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64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Back</a:t>
              </a:r>
              <a:endParaRPr/>
            </a:p>
          </p:txBody>
        </p:sp>
        <p:sp>
          <p:nvSpPr>
            <p:cNvPr id="285" name="Google Shape;285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1722665" y="1991324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86" name="Google Shape;286;p42"/>
          <p:cNvSpPr txBox="1"/>
          <p:nvPr/>
        </p:nvSpPr>
        <p:spPr>
          <a:xfrm>
            <a:off x="5518727" y="3213291"/>
            <a:ext cx="62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2  3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42"/>
          <p:cNvGrpSpPr/>
          <p:nvPr/>
        </p:nvGrpSpPr>
        <p:grpSpPr>
          <a:xfrm>
            <a:off x="6138831" y="3227529"/>
            <a:ext cx="465796" cy="241995"/>
            <a:chOff x="7589857" y="3485809"/>
            <a:chExt cx="465796" cy="241995"/>
          </a:xfrm>
        </p:grpSpPr>
        <p:sp>
          <p:nvSpPr>
            <p:cNvPr id="288" name="Google Shape;288;p42"/>
            <p:cNvSpPr/>
            <p:nvPr/>
          </p:nvSpPr>
          <p:spPr>
            <a:xfrm>
              <a:off x="7589857" y="3485809"/>
              <a:ext cx="465796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45700" rIns="180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Next</a:t>
              </a:r>
              <a:endParaRPr/>
            </a:p>
          </p:txBody>
        </p:sp>
        <p:sp>
          <p:nvSpPr>
            <p:cNvPr id="289" name="Google Shape;289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7921500" y="3565513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aphicFrame>
        <p:nvGraphicFramePr>
          <p:cNvPr id="292" name="Google Shape;292;p42"/>
          <p:cNvGraphicFramePr/>
          <p:nvPr>
            <p:extLst>
              <p:ext uri="{D42A27DB-BD31-4B8C-83A1-F6EECF244321}">
                <p14:modId xmlns:p14="http://schemas.microsoft.com/office/powerpoint/2010/main" val="3473360618"/>
              </p:ext>
            </p:extLst>
          </p:nvPr>
        </p:nvGraphicFramePr>
        <p:xfrm>
          <a:off x="1105643" y="1827428"/>
          <a:ext cx="10515549" cy="115479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26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5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38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47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23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225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137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973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다운로드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거래처명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검사자명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나이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성별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채혈일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접수일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완료일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strike="noStrike" cap="none" dirty="0">
                          <a:solidFill>
                            <a:srgbClr val="0088CC"/>
                          </a:solidFill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8704050010</a:t>
                      </a:r>
                      <a:endParaRPr sz="1000" u="none" strike="noStrike" cap="none" dirty="0"/>
                    </a:p>
                  </a:txBody>
                  <a:tcPr marL="60950" marR="60950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u="sng" strike="noStrike" cap="none" dirty="0" smtClean="0">
                          <a:solidFill>
                            <a:srgbClr val="0088CC"/>
                          </a:solidFill>
                          <a:hlinkClick r:id="rId3">
                            <a:extLst>
                              <a:ext uri="{A12FA001-AC4F-418D-AE19-62706E023703}">
                                <ahyp:hlinkClr xmlns:lc="http://schemas.openxmlformats.org/drawingml/2006/lockedCanvas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870405001_20260911xxxxx</a:t>
                      </a:r>
                      <a:r>
                        <a:rPr lang="en-US" altLang="ko-KR" sz="1000" u="sng" strike="noStrike" cap="none" dirty="0" smtClean="0">
                          <a:solidFill>
                            <a:srgbClr val="0088CC"/>
                          </a:solidFill>
                        </a:rPr>
                        <a:t>.pdf</a:t>
                      </a: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병원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권*환</a:t>
                      </a: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2026-07-10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2026-07-11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시작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sng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5904050334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박*윤</a:t>
                      </a:r>
                      <a:endParaRPr sz="1000" b="0" i="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2026-06-20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2026-06-21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2026-07-20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최종보고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3" name="Google Shape;293;p42"/>
          <p:cNvSpPr/>
          <p:nvPr/>
        </p:nvSpPr>
        <p:spPr>
          <a:xfrm>
            <a:off x="11487809" y="1429264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9" name="Google Shape;299;p42"/>
          <p:cNvSpPr/>
          <p:nvPr/>
        </p:nvSpPr>
        <p:spPr>
          <a:xfrm>
            <a:off x="741803" y="3386473"/>
            <a:ext cx="4241988" cy="3164463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의뢰일</a:t>
            </a:r>
            <a:r>
              <a:rPr lang="en-US" altLang="ko-KR" sz="1100" b="1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/</a:t>
            </a:r>
            <a:r>
              <a:rPr lang="ko-KR" altLang="en-US" sz="1100" b="1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접수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일</a:t>
            </a:r>
            <a:r>
              <a:rPr 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 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일자 </a:t>
            </a:r>
            <a:r>
              <a:rPr lang="ko-KR" altLang="en-US" sz="1100" b="0" i="0" u="none" strike="noStrike" cap="none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검색시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의뢰일</a:t>
            </a:r>
            <a:r>
              <a:rPr lang="en-US" altLang="ko-KR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/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접수일중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선택 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default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는 의뢰일 선택 고정</a:t>
            </a:r>
            <a:endParaRPr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i="0" u="none" strike="noStrike" cap="none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결과지다운로드</a:t>
            </a:r>
            <a:r>
              <a:rPr lang="en-US" altLang="ko-KR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 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목록에서 체크박스가 선택된 검사자의 </a:t>
            </a:r>
            <a:r>
              <a:rPr lang="ko-KR" altLang="en-US" sz="1100" b="0" i="0" u="none" strike="noStrike" cap="none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결과지들을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</a:t>
            </a:r>
            <a:r>
              <a:rPr lang="ko-KR" altLang="en-US" sz="1100" b="0" i="0" u="none" strike="noStrike" cap="none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압축후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다운로드 한다</a:t>
            </a:r>
            <a:endParaRPr lang="en-US" sz="1100" b="0" i="0" u="none" strike="noStrike" cap="none" dirty="0" smtClean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검사자다운로드 </a:t>
            </a:r>
            <a:r>
              <a:rPr lang="en-US" altLang="ko-KR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 </a:t>
            </a:r>
            <a:r>
              <a:rPr lang="ko-KR" altLang="en-US" sz="1100" i="0" u="none" strike="noStrike" cap="none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일자별</a:t>
            </a:r>
            <a:r>
              <a:rPr lang="ko-KR" altLang="en-US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검사목록을 엑셀파일로 </a:t>
            </a:r>
            <a:r>
              <a:rPr lang="ko-KR" altLang="en-US" sz="1100" i="0" u="none" strike="noStrike" cap="none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다운로드한다</a:t>
            </a:r>
            <a:r>
              <a:rPr lang="ko-KR" altLang="en-US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</a:t>
            </a:r>
            <a:r>
              <a:rPr lang="en-US" altLang="ko-KR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(</a:t>
            </a:r>
            <a:r>
              <a:rPr lang="ko-KR" altLang="en-US" sz="1100" b="1" i="0" u="none" strike="noStrike" cap="none" dirty="0" smtClean="0">
                <a:solidFill>
                  <a:srgbClr val="002060"/>
                </a:solidFill>
                <a:latin typeface="+mj-ea"/>
                <a:ea typeface="+mj-ea"/>
                <a:cs typeface="Quattrocento Sans"/>
                <a:sym typeface="Quattrocento Sans"/>
              </a:rPr>
              <a:t>일자선택필수</a:t>
            </a:r>
            <a:r>
              <a:rPr lang="en-US" altLang="ko-KR" sz="110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)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검사자</a:t>
            </a:r>
            <a:r>
              <a:rPr lang="ko-KR" altLang="en-US" sz="1100" b="1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업로드</a:t>
            </a:r>
            <a:r>
              <a:rPr lang="en-US" altLang="ko-KR" sz="1100" b="1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 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주어진 양식에 맞게 검사자 정보의 엑셀파일 내용을 일괄 업로드 </a:t>
            </a:r>
            <a:r>
              <a:rPr lang="ko-KR" altLang="en-US" sz="1100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한디</a:t>
            </a:r>
            <a:endParaRPr lang="en-US" altLang="ko-KR" sz="1100" b="1" i="0" u="none" strike="noStrike" cap="none" dirty="0" smtClean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indent="-171450">
              <a:spcBef>
                <a:spcPts val="1200"/>
              </a:spcBef>
              <a:buSzPts val="1100"/>
              <a:buFont typeface="Noto Sans Symbols"/>
              <a:buChar char="❖"/>
            </a:pPr>
            <a:r>
              <a:rPr lang="ko-KR" altLang="en-US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결과지 첨부</a:t>
            </a:r>
            <a:r>
              <a:rPr lang="en-US" altLang="ko-KR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:  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결과지 파일은 한 개만 등록이 가능하고 </a:t>
            </a:r>
            <a:r>
              <a:rPr lang="ko-KR" altLang="en-US" sz="1100" b="1" dirty="0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파일 형식은 </a:t>
            </a:r>
            <a:r>
              <a:rPr lang="en-US" altLang="ko-KR" sz="1100" b="1" dirty="0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ID+_(</a:t>
            </a:r>
            <a:r>
              <a:rPr lang="ko-KR" altLang="en-US" sz="1100" b="1" dirty="0" err="1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언더바</a:t>
            </a:r>
            <a:r>
              <a:rPr lang="en-US" altLang="ko-KR" sz="1100" b="1" dirty="0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)+</a:t>
            </a:r>
            <a:r>
              <a:rPr lang="en-US" altLang="ko-KR" sz="1100" b="1" dirty="0" err="1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xxxxxxxxx</a:t>
            </a:r>
            <a:r>
              <a:rPr lang="en-US" altLang="ko-KR" sz="1100" b="1" dirty="0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 .</a:t>
            </a:r>
            <a:r>
              <a:rPr lang="en-US" altLang="ko-KR" sz="1100" b="1" dirty="0" err="1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zzz</a:t>
            </a:r>
            <a:r>
              <a:rPr lang="en-US" altLang="ko-KR" sz="1100" b="1" dirty="0" smtClean="0">
                <a:solidFill>
                  <a:srgbClr val="002060"/>
                </a:solidFill>
                <a:latin typeface="+mj-ea"/>
                <a:cs typeface="Quattrocento Sans"/>
                <a:sym typeface="Quattrocento Sans"/>
              </a:rPr>
              <a:t> 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이여야 함</a:t>
            </a:r>
            <a:endParaRPr lang="en-US" altLang="ko-KR" sz="1100" dirty="0" smtClean="0">
              <a:solidFill>
                <a:schemeClr val="tx1"/>
              </a:solidFill>
              <a:latin typeface="+mj-ea"/>
              <a:cs typeface="Quattrocento Sans"/>
              <a:sym typeface="Quattrocento Sans"/>
            </a:endParaRPr>
          </a:p>
          <a:p>
            <a:pPr marL="171450" indent="-171450">
              <a:spcBef>
                <a:spcPts val="1200"/>
              </a:spcBef>
              <a:buSzPts val="1100"/>
              <a:buFont typeface="Noto Sans Symbols"/>
              <a:buChar char="❖"/>
            </a:pP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 </a:t>
            </a:r>
            <a:r>
              <a:rPr lang="ko-KR" altLang="en-US" sz="1100" b="1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목록파일명 클릭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: 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목록의 파일명 </a:t>
            </a:r>
            <a:r>
              <a:rPr lang="ko-KR" altLang="en-US" sz="1100" dirty="0" err="1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클릭시</a:t>
            </a:r>
            <a:r>
              <a:rPr lang="ko-KR" altLang="en-US" sz="1100" dirty="0" smtClean="0">
                <a:solidFill>
                  <a:schemeClr val="tx1"/>
                </a:solidFill>
                <a:latin typeface="+mj-ea"/>
                <a:cs typeface="Quattrocento Sans"/>
                <a:sym typeface="Quattrocento Sans"/>
              </a:rPr>
              <a:t> 다운로드가 되어야 함</a:t>
            </a:r>
            <a:endParaRPr lang="en-US" altLang="ko-KR" sz="1100" dirty="0" smtClean="0">
              <a:solidFill>
                <a:schemeClr val="tx1"/>
              </a:solidFill>
              <a:latin typeface="+mj-ea"/>
              <a:cs typeface="Quattrocento Sans"/>
              <a:sym typeface="Quattrocento Sans"/>
            </a:endParaRPr>
          </a:p>
          <a:p>
            <a:pPr>
              <a:spcBef>
                <a:spcPts val="1200"/>
              </a:spcBef>
              <a:buSzPts val="1100"/>
            </a:pPr>
            <a:endParaRPr lang="en-US" altLang="ko-KR" sz="1100" dirty="0">
              <a:solidFill>
                <a:schemeClr val="tx1"/>
              </a:solidFill>
              <a:latin typeface="+mj-ea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endParaRPr sz="1100" i="0" u="none" strike="noStrike" cap="none" dirty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253964" y="195425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256900" y="228249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251044" y="2619524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225;p41"/>
          <p:cNvSpPr/>
          <p:nvPr/>
        </p:nvSpPr>
        <p:spPr>
          <a:xfrm>
            <a:off x="10967482" y="1415791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5" name="Google Shape;230;p41" descr="&lt;SmartSettings&gt;&lt;SmartResize enabled=&quot;True&quot; minWidth=&quot;25&quot; minHeight=&quot;25&quot; /&gt;&lt;/SmartSettings&gt;"/>
          <p:cNvGrpSpPr/>
          <p:nvPr/>
        </p:nvGrpSpPr>
        <p:grpSpPr>
          <a:xfrm>
            <a:off x="7151370" y="2952750"/>
            <a:ext cx="4153468" cy="3857625"/>
            <a:chOff x="1615921" y="1017671"/>
            <a:chExt cx="788147" cy="1493610"/>
          </a:xfrm>
        </p:grpSpPr>
        <p:sp>
          <p:nvSpPr>
            <p:cNvPr id="66" name="Google Shape;231;p41"/>
            <p:cNvSpPr/>
            <p:nvPr/>
          </p:nvSpPr>
          <p:spPr>
            <a:xfrm>
              <a:off x="1615921" y="1017671"/>
              <a:ext cx="788147" cy="14936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E4E79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algn="ctr" rotWithShape="0">
                <a:srgbClr val="808080">
                  <a:alpha val="49803"/>
                </a:srgbClr>
              </a:outerShdw>
            </a:effectLst>
          </p:spPr>
          <p:txBody>
            <a:bodyPr spcFirstLastPara="1" wrap="square" lIns="54850" tIns="36575" rIns="54850" bIns="36575" anchor="t" anchorCtr="0">
              <a:noAutofit/>
            </a:bodyPr>
            <a:lstStyle/>
            <a:p>
              <a:pPr lvl="0"/>
              <a:r>
                <a:rPr lang="en-US" sz="1000" b="0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🞤 </a:t>
              </a:r>
              <a:r>
                <a:rPr lang="en-US" altLang="ko-KR" sz="1000" b="1" dirty="0" err="1">
                  <a:solidFill>
                    <a:srgbClr val="333333"/>
                  </a:solidFill>
                </a:rPr>
                <a:t>UltraSEEK</a:t>
              </a:r>
              <a:r>
                <a:rPr lang="en-US" altLang="ko-KR" sz="1000" b="1" dirty="0">
                  <a:solidFill>
                    <a:srgbClr val="333333"/>
                  </a:solidFill>
                </a:rPr>
                <a:t> </a:t>
              </a:r>
              <a:r>
                <a:rPr lang="en-US" sz="1000" b="1" i="0" u="none" strike="noStrike" cap="none" dirty="0" err="1" smtClean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추가</a:t>
              </a:r>
              <a:r>
                <a:rPr lang="en-US" sz="1000" b="1" i="0" u="none" strike="noStrike" cap="none" dirty="0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/</a:t>
              </a:r>
              <a:r>
                <a:rPr lang="en-US" sz="1000" b="1" i="0" u="none" strike="noStrike" cap="none" dirty="0" err="1">
                  <a:solidFill>
                    <a:srgbClr val="33333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수정</a:t>
              </a:r>
              <a:endParaRPr sz="1000" b="1" i="0" u="none" strike="noStrike" cap="none" dirty="0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7" name="Google Shape;232;p41" descr="&lt;SmartSettings&gt;&lt;SmartResize anchorLeft=&quot;Relative&quot; anchorTop=&quot;Absolute&quot; anchorRight=&quot;Relative&quot; anchorBottom=&quot;None&quot; /&gt;&lt;/SmartSettings&gt;"/>
            <p:cNvCxnSpPr/>
            <p:nvPr/>
          </p:nvCxnSpPr>
          <p:spPr>
            <a:xfrm rot="10800000" flipH="1">
              <a:off x="1617155" y="1132997"/>
              <a:ext cx="786913" cy="8918"/>
            </a:xfrm>
            <a:prstGeom prst="straightConnector1">
              <a:avLst/>
            </a:prstGeom>
            <a:noFill/>
            <a:ln w="9525" cap="sq" cmpd="sng">
              <a:solidFill>
                <a:srgbClr val="1E4E79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68" name="Google Shape;233;p41"/>
          <p:cNvSpPr/>
          <p:nvPr/>
        </p:nvSpPr>
        <p:spPr>
          <a:xfrm>
            <a:off x="10042976" y="6414311"/>
            <a:ext cx="532726" cy="27325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저장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234;p41"/>
          <p:cNvSpPr/>
          <p:nvPr/>
        </p:nvSpPr>
        <p:spPr>
          <a:xfrm>
            <a:off x="10662012" y="6447470"/>
            <a:ext cx="532726" cy="265492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취소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" name="Google Shape;235;p41"/>
          <p:cNvSpPr txBox="1"/>
          <p:nvPr/>
        </p:nvSpPr>
        <p:spPr>
          <a:xfrm>
            <a:off x="7637184" y="3898672"/>
            <a:ext cx="68162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거래처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36;p41"/>
          <p:cNvSpPr/>
          <p:nvPr/>
        </p:nvSpPr>
        <p:spPr>
          <a:xfrm>
            <a:off x="8358254" y="3814765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238;p41"/>
          <p:cNvSpPr txBox="1"/>
          <p:nvPr/>
        </p:nvSpPr>
        <p:spPr>
          <a:xfrm>
            <a:off x="7341893" y="5436100"/>
            <a:ext cx="88971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240;p41"/>
          <p:cNvSpPr/>
          <p:nvPr/>
        </p:nvSpPr>
        <p:spPr>
          <a:xfrm>
            <a:off x="8430936" y="5651980"/>
            <a:ext cx="2199911" cy="288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 smtClean="0"/>
              <a:t>rs8743565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241;p41"/>
          <p:cNvSpPr txBox="1"/>
          <p:nvPr/>
        </p:nvSpPr>
        <p:spPr>
          <a:xfrm>
            <a:off x="7374143" y="5656244"/>
            <a:ext cx="99081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결과지 첨부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242;p41"/>
          <p:cNvSpPr txBox="1"/>
          <p:nvPr/>
        </p:nvSpPr>
        <p:spPr>
          <a:xfrm>
            <a:off x="7830564" y="3635744"/>
            <a:ext cx="4395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10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243;p41"/>
          <p:cNvSpPr/>
          <p:nvPr/>
        </p:nvSpPr>
        <p:spPr>
          <a:xfrm>
            <a:off x="8352714" y="3552929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3549469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247;p41"/>
          <p:cNvSpPr/>
          <p:nvPr/>
        </p:nvSpPr>
        <p:spPr>
          <a:xfrm>
            <a:off x="10394037" y="3881352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247;p41"/>
          <p:cNvSpPr/>
          <p:nvPr/>
        </p:nvSpPr>
        <p:spPr>
          <a:xfrm>
            <a:off x="10418377" y="5739827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394016" y="5007372"/>
            <a:ext cx="2129826" cy="252000"/>
            <a:chOff x="7878587" y="4134243"/>
            <a:chExt cx="1205731" cy="252000"/>
          </a:xfrm>
        </p:grpSpPr>
        <p:sp>
          <p:nvSpPr>
            <p:cNvPr id="100" name="Google Shape;304;p42"/>
            <p:cNvSpPr/>
            <p:nvPr/>
          </p:nvSpPr>
          <p:spPr>
            <a:xfrm>
              <a:off x="7878587" y="4134243"/>
              <a:ext cx="1205731" cy="252000"/>
            </a:xfrm>
            <a:prstGeom prst="roundRect">
              <a:avLst>
                <a:gd name="adj" fmla="val 28305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00575" tIns="64000" rIns="10057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305;p42"/>
            <p:cNvSpPr/>
            <p:nvPr/>
          </p:nvSpPr>
          <p:spPr>
            <a:xfrm>
              <a:off x="8933525" y="4162686"/>
              <a:ext cx="121154" cy="194254"/>
            </a:xfrm>
            <a:custGeom>
              <a:avLst/>
              <a:gdLst/>
              <a:ahLst/>
              <a:cxnLst/>
              <a:rect l="l" t="t" r="r" b="b"/>
              <a:pathLst>
                <a:path w="667" h="667" extrusionOk="0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02" name="Google Shape;309;p42"/>
          <p:cNvSpPr txBox="1"/>
          <p:nvPr/>
        </p:nvSpPr>
        <p:spPr>
          <a:xfrm>
            <a:off x="7737012" y="5013601"/>
            <a:ext cx="61570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1000" dirty="0" smtClean="0">
                <a:solidFill>
                  <a:srgbClr val="002060"/>
                </a:solidFill>
              </a:rPr>
              <a:t>체취일</a:t>
            </a:r>
            <a:r>
              <a:rPr lang="en-US" altLang="ko-KR" sz="1000" dirty="0" smtClean="0">
                <a:solidFill>
                  <a:srgbClr val="FF0000"/>
                </a:solidFill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142;p39"/>
          <p:cNvSpPr txBox="1"/>
          <p:nvPr/>
        </p:nvSpPr>
        <p:spPr>
          <a:xfrm>
            <a:off x="7432914" y="414229"/>
            <a:ext cx="116253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sng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u="sng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u="sng" dirty="0" smtClean="0">
                <a:solidFill>
                  <a:schemeClr val="lt1"/>
                </a:solidFill>
              </a:rPr>
              <a:t>검사</a:t>
            </a:r>
            <a:endParaRPr sz="1000" b="1" i="0" u="sng" strike="noStrike" cap="none" dirty="0">
              <a:solidFill>
                <a:schemeClr val="lt1"/>
              </a:solidFill>
              <a:sym typeface="Arial"/>
            </a:endParaRPr>
          </a:p>
        </p:txBody>
      </p:sp>
      <p:sp>
        <p:nvSpPr>
          <p:cNvPr id="94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204;p41"/>
          <p:cNvSpPr/>
          <p:nvPr/>
        </p:nvSpPr>
        <p:spPr>
          <a:xfrm>
            <a:off x="4259152" y="1393769"/>
            <a:ext cx="1558106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err="1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거래처명</a:t>
            </a:r>
            <a:r>
              <a:rPr lang="en-US" altLang="ko-KR" sz="1000" b="0" i="0" u="none" strike="noStrike" cap="none" dirty="0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000" b="0" i="0" u="none" strike="noStrike" cap="none" dirty="0" err="1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검사자명</a:t>
            </a:r>
            <a:r>
              <a:rPr lang="en-US" sz="1000" b="0" i="0" u="none" strike="noStrike" cap="none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/ID</a:t>
            </a:r>
            <a:endParaRPr sz="1000" b="0" i="0" u="none" strike="noStrike" cap="none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205;p41"/>
          <p:cNvSpPr/>
          <p:nvPr/>
        </p:nvSpPr>
        <p:spPr>
          <a:xfrm>
            <a:off x="5871536" y="1396935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212;p41"/>
          <p:cNvSpPr/>
          <p:nvPr/>
        </p:nvSpPr>
        <p:spPr>
          <a:xfrm>
            <a:off x="1501884" y="1413159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213;p41"/>
          <p:cNvSpPr/>
          <p:nvPr/>
        </p:nvSpPr>
        <p:spPr>
          <a:xfrm>
            <a:off x="2483722" y="1441602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8" name="Google Shape;214;p41"/>
          <p:cNvSpPr txBox="1"/>
          <p:nvPr/>
        </p:nvSpPr>
        <p:spPr>
          <a:xfrm>
            <a:off x="2701772" y="1374513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215;p41"/>
          <p:cNvSpPr/>
          <p:nvPr/>
        </p:nvSpPr>
        <p:spPr>
          <a:xfrm>
            <a:off x="2951067" y="1407464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216;p41"/>
          <p:cNvSpPr/>
          <p:nvPr/>
        </p:nvSpPr>
        <p:spPr>
          <a:xfrm>
            <a:off x="3932905" y="1435907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212;p41"/>
          <p:cNvSpPr/>
          <p:nvPr/>
        </p:nvSpPr>
        <p:spPr>
          <a:xfrm>
            <a:off x="693280" y="1369864"/>
            <a:ext cx="729529" cy="319539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9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의뢰일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247;p41"/>
          <p:cNvSpPr/>
          <p:nvPr/>
        </p:nvSpPr>
        <p:spPr>
          <a:xfrm>
            <a:off x="1231026" y="1461313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294;p42"/>
          <p:cNvSpPr/>
          <p:nvPr/>
        </p:nvSpPr>
        <p:spPr>
          <a:xfrm>
            <a:off x="9904695" y="1424258"/>
            <a:ext cx="1009862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</a:t>
            </a:r>
            <a:r>
              <a:rPr 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다운로드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15" name="Google Shape;275;p42"/>
          <p:cNvGrpSpPr/>
          <p:nvPr/>
        </p:nvGrpSpPr>
        <p:grpSpPr>
          <a:xfrm>
            <a:off x="6288161" y="1391514"/>
            <a:ext cx="1286509" cy="285876"/>
            <a:chOff x="9268470" y="1401039"/>
            <a:chExt cx="1013844" cy="285876"/>
          </a:xfrm>
        </p:grpSpPr>
        <p:sp>
          <p:nvSpPr>
            <p:cNvPr id="116" name="Google Shape;276;p42"/>
            <p:cNvSpPr/>
            <p:nvPr/>
          </p:nvSpPr>
          <p:spPr>
            <a:xfrm>
              <a:off x="9268470" y="1401039"/>
              <a:ext cx="1013844" cy="285876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 dirty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</a:t>
              </a:r>
              <a:r>
                <a:rPr 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</a:t>
              </a:r>
              <a:r>
                <a:rPr lang="ko-KR" altLang="en-US" sz="900" b="1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검사자</a:t>
              </a:r>
              <a:r>
                <a:rPr lang="ko-KR" alt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다운로드</a:t>
              </a:r>
              <a:endParaRPr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17" name="Google Shape;277;p42" descr="https://t1.daumcdn.net/cfile/tistory/242A7F4B55A48CAE16"/>
            <p:cNvPicPr preferRelativeResize="0"/>
            <p:nvPr/>
          </p:nvPicPr>
          <p:blipFill rotWithShape="1">
            <a:blip r:embed="rId4">
              <a:alphaModFix/>
            </a:blip>
            <a:srcRect l="5354" t="7425" r="63988" b="47661"/>
            <a:stretch/>
          </p:blipFill>
          <p:spPr>
            <a:xfrm>
              <a:off x="9341341" y="1450312"/>
              <a:ext cx="176515" cy="1704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294;p42"/>
          <p:cNvSpPr/>
          <p:nvPr/>
        </p:nvSpPr>
        <p:spPr>
          <a:xfrm>
            <a:off x="8923620" y="1424258"/>
            <a:ext cx="938653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</a:t>
            </a:r>
            <a:r>
              <a:rPr 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000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업로드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9" name="Google Shape;235;p41"/>
          <p:cNvSpPr txBox="1"/>
          <p:nvPr/>
        </p:nvSpPr>
        <p:spPr>
          <a:xfrm>
            <a:off x="7646708" y="4165372"/>
            <a:ext cx="77339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고객명 </a:t>
            </a:r>
            <a:r>
              <a:rPr lang="en-US" sz="1000" b="0" i="0" u="none" strike="noStrike" cap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236;p41"/>
          <p:cNvSpPr/>
          <p:nvPr/>
        </p:nvSpPr>
        <p:spPr>
          <a:xfrm>
            <a:off x="8367779" y="4110040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235;p41"/>
          <p:cNvSpPr txBox="1"/>
          <p:nvPr/>
        </p:nvSpPr>
        <p:spPr>
          <a:xfrm>
            <a:off x="7713384" y="4441597"/>
            <a:ext cx="60542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 smtClean="0">
                <a:solidFill>
                  <a:srgbClr val="002060"/>
                </a:solidFill>
              </a:rPr>
              <a:t>나</a:t>
            </a:r>
            <a:r>
              <a:rPr lang="ko-KR" altLang="en-US" sz="1000" dirty="0">
                <a:solidFill>
                  <a:srgbClr val="002060"/>
                </a:solidFill>
              </a:rPr>
              <a:t>이</a:t>
            </a:r>
            <a:r>
              <a:rPr lang="ko-KR" altLang="en-US" sz="1000" b="0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236;p41"/>
          <p:cNvSpPr/>
          <p:nvPr/>
        </p:nvSpPr>
        <p:spPr>
          <a:xfrm>
            <a:off x="8367779" y="4405315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35;p41"/>
          <p:cNvSpPr txBox="1"/>
          <p:nvPr/>
        </p:nvSpPr>
        <p:spPr>
          <a:xfrm>
            <a:off x="7751484" y="4698772"/>
            <a:ext cx="56732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 smtClean="0">
                <a:solidFill>
                  <a:srgbClr val="002060"/>
                </a:solidFill>
              </a:rPr>
              <a:t>성</a:t>
            </a:r>
            <a:r>
              <a:rPr lang="ko-KR" altLang="en-US" sz="1000" dirty="0">
                <a:solidFill>
                  <a:srgbClr val="002060"/>
                </a:solidFill>
              </a:rPr>
              <a:t>별</a:t>
            </a:r>
            <a:r>
              <a:rPr lang="ko-KR" altLang="en-US" sz="1000" b="0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36;p41"/>
          <p:cNvSpPr/>
          <p:nvPr/>
        </p:nvSpPr>
        <p:spPr>
          <a:xfrm>
            <a:off x="8358254" y="4710115"/>
            <a:ext cx="2244710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8413066" y="5293122"/>
            <a:ext cx="2129826" cy="252000"/>
            <a:chOff x="7878587" y="4134243"/>
            <a:chExt cx="1205731" cy="252000"/>
          </a:xfrm>
        </p:grpSpPr>
        <p:sp>
          <p:nvSpPr>
            <p:cNvPr id="127" name="Google Shape;304;p42"/>
            <p:cNvSpPr/>
            <p:nvPr/>
          </p:nvSpPr>
          <p:spPr>
            <a:xfrm>
              <a:off x="7878587" y="4134243"/>
              <a:ext cx="1205731" cy="252000"/>
            </a:xfrm>
            <a:prstGeom prst="roundRect">
              <a:avLst>
                <a:gd name="adj" fmla="val 28305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00575" tIns="64000" rIns="10057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305;p42"/>
            <p:cNvSpPr/>
            <p:nvPr/>
          </p:nvSpPr>
          <p:spPr>
            <a:xfrm>
              <a:off x="8933525" y="4162686"/>
              <a:ext cx="121154" cy="194254"/>
            </a:xfrm>
            <a:custGeom>
              <a:avLst/>
              <a:gdLst/>
              <a:ahLst/>
              <a:cxnLst/>
              <a:rect l="l" t="t" r="r" b="b"/>
              <a:pathLst>
                <a:path w="667" h="667" extrusionOk="0">
                  <a:moveTo>
                    <a:pt x="147" y="0"/>
                  </a:moveTo>
                  <a:cubicBezTo>
                    <a:pt x="140" y="0"/>
                    <a:pt x="133" y="3"/>
                    <a:pt x="128" y="8"/>
                  </a:cubicBezTo>
                  <a:cubicBezTo>
                    <a:pt x="123" y="13"/>
                    <a:pt x="120" y="20"/>
                    <a:pt x="120" y="27"/>
                  </a:cubicBezTo>
                  <a:lnTo>
                    <a:pt x="120" y="54"/>
                  </a:lnTo>
                  <a:lnTo>
                    <a:pt x="27" y="54"/>
                  </a:lnTo>
                  <a:cubicBezTo>
                    <a:pt x="20" y="54"/>
                    <a:pt x="13" y="56"/>
                    <a:pt x="8" y="61"/>
                  </a:cubicBezTo>
                  <a:cubicBezTo>
                    <a:pt x="3" y="66"/>
                    <a:pt x="0" y="73"/>
                    <a:pt x="0" y="80"/>
                  </a:cubicBezTo>
                  <a:lnTo>
                    <a:pt x="0" y="640"/>
                  </a:lnTo>
                  <a:cubicBezTo>
                    <a:pt x="0" y="647"/>
                    <a:pt x="3" y="654"/>
                    <a:pt x="8" y="659"/>
                  </a:cubicBezTo>
                  <a:cubicBezTo>
                    <a:pt x="13" y="664"/>
                    <a:pt x="20" y="667"/>
                    <a:pt x="27" y="667"/>
                  </a:cubicBezTo>
                  <a:lnTo>
                    <a:pt x="640" y="667"/>
                  </a:lnTo>
                  <a:cubicBezTo>
                    <a:pt x="647" y="667"/>
                    <a:pt x="654" y="664"/>
                    <a:pt x="659" y="659"/>
                  </a:cubicBezTo>
                  <a:cubicBezTo>
                    <a:pt x="664" y="654"/>
                    <a:pt x="667" y="647"/>
                    <a:pt x="667" y="640"/>
                  </a:cubicBezTo>
                  <a:lnTo>
                    <a:pt x="667" y="80"/>
                  </a:lnTo>
                  <a:cubicBezTo>
                    <a:pt x="667" y="73"/>
                    <a:pt x="664" y="66"/>
                    <a:pt x="659" y="61"/>
                  </a:cubicBezTo>
                  <a:cubicBezTo>
                    <a:pt x="654" y="56"/>
                    <a:pt x="647" y="54"/>
                    <a:pt x="640" y="54"/>
                  </a:cubicBezTo>
                  <a:lnTo>
                    <a:pt x="547" y="54"/>
                  </a:lnTo>
                  <a:lnTo>
                    <a:pt x="547" y="27"/>
                  </a:lnTo>
                  <a:cubicBezTo>
                    <a:pt x="547" y="20"/>
                    <a:pt x="544" y="13"/>
                    <a:pt x="539" y="8"/>
                  </a:cubicBezTo>
                  <a:cubicBezTo>
                    <a:pt x="534" y="3"/>
                    <a:pt x="527" y="0"/>
                    <a:pt x="520" y="0"/>
                  </a:cubicBezTo>
                  <a:lnTo>
                    <a:pt x="493" y="0"/>
                  </a:lnTo>
                  <a:cubicBezTo>
                    <a:pt x="486" y="0"/>
                    <a:pt x="479" y="3"/>
                    <a:pt x="474" y="8"/>
                  </a:cubicBezTo>
                  <a:cubicBezTo>
                    <a:pt x="469" y="13"/>
                    <a:pt x="467" y="20"/>
                    <a:pt x="467" y="27"/>
                  </a:cubicBezTo>
                  <a:lnTo>
                    <a:pt x="467" y="54"/>
                  </a:lnTo>
                  <a:lnTo>
                    <a:pt x="200" y="54"/>
                  </a:lnTo>
                  <a:lnTo>
                    <a:pt x="200" y="27"/>
                  </a:lnTo>
                  <a:cubicBezTo>
                    <a:pt x="200" y="20"/>
                    <a:pt x="197" y="13"/>
                    <a:pt x="192" y="8"/>
                  </a:cubicBezTo>
                  <a:cubicBezTo>
                    <a:pt x="187" y="3"/>
                    <a:pt x="180" y="0"/>
                    <a:pt x="173" y="0"/>
                  </a:cubicBezTo>
                  <a:lnTo>
                    <a:pt x="147" y="0"/>
                  </a:lnTo>
                  <a:close/>
                  <a:moveTo>
                    <a:pt x="147" y="27"/>
                  </a:moveTo>
                  <a:lnTo>
                    <a:pt x="173" y="27"/>
                  </a:lnTo>
                  <a:lnTo>
                    <a:pt x="173" y="107"/>
                  </a:lnTo>
                  <a:lnTo>
                    <a:pt x="147" y="107"/>
                  </a:lnTo>
                  <a:lnTo>
                    <a:pt x="147" y="27"/>
                  </a:lnTo>
                  <a:close/>
                  <a:moveTo>
                    <a:pt x="493" y="27"/>
                  </a:moveTo>
                  <a:lnTo>
                    <a:pt x="520" y="27"/>
                  </a:lnTo>
                  <a:lnTo>
                    <a:pt x="520" y="107"/>
                  </a:lnTo>
                  <a:lnTo>
                    <a:pt x="493" y="107"/>
                  </a:lnTo>
                  <a:lnTo>
                    <a:pt x="493" y="27"/>
                  </a:lnTo>
                  <a:close/>
                  <a:moveTo>
                    <a:pt x="27" y="80"/>
                  </a:moveTo>
                  <a:lnTo>
                    <a:pt x="120" y="80"/>
                  </a:lnTo>
                  <a:lnTo>
                    <a:pt x="120" y="107"/>
                  </a:lnTo>
                  <a:cubicBezTo>
                    <a:pt x="120" y="114"/>
                    <a:pt x="123" y="121"/>
                    <a:pt x="128" y="126"/>
                  </a:cubicBezTo>
                  <a:cubicBezTo>
                    <a:pt x="133" y="131"/>
                    <a:pt x="140" y="134"/>
                    <a:pt x="147" y="134"/>
                  </a:cubicBezTo>
                  <a:lnTo>
                    <a:pt x="173" y="134"/>
                  </a:lnTo>
                  <a:cubicBezTo>
                    <a:pt x="180" y="134"/>
                    <a:pt x="187" y="131"/>
                    <a:pt x="192" y="126"/>
                  </a:cubicBezTo>
                  <a:cubicBezTo>
                    <a:pt x="197" y="121"/>
                    <a:pt x="200" y="114"/>
                    <a:pt x="200" y="107"/>
                  </a:cubicBezTo>
                  <a:lnTo>
                    <a:pt x="200" y="80"/>
                  </a:lnTo>
                  <a:lnTo>
                    <a:pt x="467" y="80"/>
                  </a:lnTo>
                  <a:lnTo>
                    <a:pt x="467" y="107"/>
                  </a:lnTo>
                  <a:cubicBezTo>
                    <a:pt x="467" y="114"/>
                    <a:pt x="469" y="121"/>
                    <a:pt x="474" y="126"/>
                  </a:cubicBezTo>
                  <a:cubicBezTo>
                    <a:pt x="479" y="131"/>
                    <a:pt x="486" y="134"/>
                    <a:pt x="493" y="134"/>
                  </a:cubicBezTo>
                  <a:lnTo>
                    <a:pt x="520" y="134"/>
                  </a:lnTo>
                  <a:cubicBezTo>
                    <a:pt x="527" y="134"/>
                    <a:pt x="534" y="131"/>
                    <a:pt x="539" y="126"/>
                  </a:cubicBezTo>
                  <a:cubicBezTo>
                    <a:pt x="544" y="121"/>
                    <a:pt x="547" y="114"/>
                    <a:pt x="547" y="107"/>
                  </a:cubicBezTo>
                  <a:lnTo>
                    <a:pt x="547" y="80"/>
                  </a:lnTo>
                  <a:lnTo>
                    <a:pt x="640" y="80"/>
                  </a:lnTo>
                  <a:lnTo>
                    <a:pt x="640" y="187"/>
                  </a:lnTo>
                  <a:lnTo>
                    <a:pt x="27" y="187"/>
                  </a:lnTo>
                  <a:lnTo>
                    <a:pt x="27" y="80"/>
                  </a:lnTo>
                  <a:close/>
                  <a:moveTo>
                    <a:pt x="27" y="214"/>
                  </a:moveTo>
                  <a:lnTo>
                    <a:pt x="640" y="214"/>
                  </a:lnTo>
                  <a:lnTo>
                    <a:pt x="640" y="640"/>
                  </a:lnTo>
                  <a:lnTo>
                    <a:pt x="27" y="640"/>
                  </a:lnTo>
                  <a:lnTo>
                    <a:pt x="27" y="214"/>
                  </a:lnTo>
                  <a:close/>
                  <a:moveTo>
                    <a:pt x="93" y="280"/>
                  </a:moveTo>
                  <a:cubicBezTo>
                    <a:pt x="86" y="280"/>
                    <a:pt x="80" y="286"/>
                    <a:pt x="80" y="294"/>
                  </a:cubicBezTo>
                  <a:lnTo>
                    <a:pt x="80" y="574"/>
                  </a:lnTo>
                  <a:cubicBezTo>
                    <a:pt x="80" y="581"/>
                    <a:pt x="86" y="587"/>
                    <a:pt x="93" y="587"/>
                  </a:cubicBezTo>
                  <a:lnTo>
                    <a:pt x="400" y="587"/>
                  </a:lnTo>
                  <a:lnTo>
                    <a:pt x="573" y="587"/>
                  </a:lnTo>
                  <a:cubicBezTo>
                    <a:pt x="581" y="587"/>
                    <a:pt x="587" y="581"/>
                    <a:pt x="587" y="574"/>
                  </a:cubicBezTo>
                  <a:lnTo>
                    <a:pt x="587" y="294"/>
                  </a:lnTo>
                  <a:cubicBezTo>
                    <a:pt x="587" y="286"/>
                    <a:pt x="581" y="280"/>
                    <a:pt x="573" y="280"/>
                  </a:cubicBezTo>
                  <a:lnTo>
                    <a:pt x="93" y="280"/>
                  </a:lnTo>
                  <a:close/>
                  <a:moveTo>
                    <a:pt x="107" y="307"/>
                  </a:moveTo>
                  <a:lnTo>
                    <a:pt x="200" y="307"/>
                  </a:lnTo>
                  <a:lnTo>
                    <a:pt x="200" y="374"/>
                  </a:lnTo>
                  <a:lnTo>
                    <a:pt x="107" y="374"/>
                  </a:lnTo>
                  <a:lnTo>
                    <a:pt x="107" y="307"/>
                  </a:lnTo>
                  <a:close/>
                  <a:moveTo>
                    <a:pt x="227" y="307"/>
                  </a:moveTo>
                  <a:lnTo>
                    <a:pt x="320" y="307"/>
                  </a:lnTo>
                  <a:lnTo>
                    <a:pt x="320" y="374"/>
                  </a:lnTo>
                  <a:lnTo>
                    <a:pt x="227" y="374"/>
                  </a:lnTo>
                  <a:lnTo>
                    <a:pt x="227" y="307"/>
                  </a:lnTo>
                  <a:close/>
                  <a:moveTo>
                    <a:pt x="347" y="307"/>
                  </a:moveTo>
                  <a:lnTo>
                    <a:pt x="440" y="307"/>
                  </a:lnTo>
                  <a:lnTo>
                    <a:pt x="440" y="374"/>
                  </a:lnTo>
                  <a:lnTo>
                    <a:pt x="347" y="374"/>
                  </a:lnTo>
                  <a:lnTo>
                    <a:pt x="347" y="307"/>
                  </a:lnTo>
                  <a:close/>
                  <a:moveTo>
                    <a:pt x="467" y="307"/>
                  </a:moveTo>
                  <a:lnTo>
                    <a:pt x="560" y="307"/>
                  </a:lnTo>
                  <a:lnTo>
                    <a:pt x="560" y="374"/>
                  </a:lnTo>
                  <a:lnTo>
                    <a:pt x="467" y="374"/>
                  </a:lnTo>
                  <a:lnTo>
                    <a:pt x="467" y="307"/>
                  </a:lnTo>
                  <a:close/>
                  <a:moveTo>
                    <a:pt x="107" y="400"/>
                  </a:moveTo>
                  <a:lnTo>
                    <a:pt x="200" y="400"/>
                  </a:lnTo>
                  <a:lnTo>
                    <a:pt x="200" y="467"/>
                  </a:lnTo>
                  <a:lnTo>
                    <a:pt x="107" y="467"/>
                  </a:lnTo>
                  <a:lnTo>
                    <a:pt x="107" y="400"/>
                  </a:lnTo>
                  <a:close/>
                  <a:moveTo>
                    <a:pt x="227" y="400"/>
                  </a:moveTo>
                  <a:lnTo>
                    <a:pt x="320" y="400"/>
                  </a:lnTo>
                  <a:lnTo>
                    <a:pt x="320" y="467"/>
                  </a:lnTo>
                  <a:lnTo>
                    <a:pt x="227" y="467"/>
                  </a:lnTo>
                  <a:lnTo>
                    <a:pt x="227" y="400"/>
                  </a:lnTo>
                  <a:close/>
                  <a:moveTo>
                    <a:pt x="347" y="400"/>
                  </a:moveTo>
                  <a:lnTo>
                    <a:pt x="440" y="400"/>
                  </a:lnTo>
                  <a:lnTo>
                    <a:pt x="440" y="467"/>
                  </a:lnTo>
                  <a:lnTo>
                    <a:pt x="347" y="467"/>
                  </a:lnTo>
                  <a:lnTo>
                    <a:pt x="347" y="400"/>
                  </a:lnTo>
                  <a:close/>
                  <a:moveTo>
                    <a:pt x="467" y="400"/>
                  </a:moveTo>
                  <a:lnTo>
                    <a:pt x="560" y="400"/>
                  </a:lnTo>
                  <a:lnTo>
                    <a:pt x="560" y="467"/>
                  </a:lnTo>
                  <a:lnTo>
                    <a:pt x="467" y="467"/>
                  </a:lnTo>
                  <a:lnTo>
                    <a:pt x="467" y="400"/>
                  </a:lnTo>
                  <a:close/>
                  <a:moveTo>
                    <a:pt x="107" y="494"/>
                  </a:moveTo>
                  <a:lnTo>
                    <a:pt x="200" y="494"/>
                  </a:lnTo>
                  <a:lnTo>
                    <a:pt x="200" y="560"/>
                  </a:lnTo>
                  <a:lnTo>
                    <a:pt x="107" y="560"/>
                  </a:lnTo>
                  <a:lnTo>
                    <a:pt x="107" y="494"/>
                  </a:lnTo>
                  <a:close/>
                  <a:moveTo>
                    <a:pt x="227" y="494"/>
                  </a:moveTo>
                  <a:lnTo>
                    <a:pt x="320" y="494"/>
                  </a:lnTo>
                  <a:lnTo>
                    <a:pt x="320" y="560"/>
                  </a:lnTo>
                  <a:lnTo>
                    <a:pt x="227" y="560"/>
                  </a:lnTo>
                  <a:lnTo>
                    <a:pt x="227" y="494"/>
                  </a:lnTo>
                  <a:close/>
                  <a:moveTo>
                    <a:pt x="347" y="494"/>
                  </a:moveTo>
                  <a:lnTo>
                    <a:pt x="440" y="494"/>
                  </a:lnTo>
                  <a:lnTo>
                    <a:pt x="440" y="560"/>
                  </a:lnTo>
                  <a:lnTo>
                    <a:pt x="400" y="560"/>
                  </a:lnTo>
                  <a:lnTo>
                    <a:pt x="347" y="560"/>
                  </a:lnTo>
                  <a:lnTo>
                    <a:pt x="347" y="494"/>
                  </a:lnTo>
                  <a:close/>
                  <a:moveTo>
                    <a:pt x="467" y="494"/>
                  </a:moveTo>
                  <a:lnTo>
                    <a:pt x="560" y="494"/>
                  </a:lnTo>
                  <a:lnTo>
                    <a:pt x="560" y="560"/>
                  </a:lnTo>
                  <a:lnTo>
                    <a:pt x="467" y="560"/>
                  </a:lnTo>
                  <a:lnTo>
                    <a:pt x="467" y="494"/>
                  </a:ln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29" name="Google Shape;309;p42"/>
          <p:cNvSpPr txBox="1"/>
          <p:nvPr/>
        </p:nvSpPr>
        <p:spPr>
          <a:xfrm>
            <a:off x="7713384" y="5308876"/>
            <a:ext cx="60542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1000" dirty="0" smtClean="0">
                <a:solidFill>
                  <a:srgbClr val="002060"/>
                </a:solidFill>
              </a:rPr>
              <a:t>접</a:t>
            </a:r>
            <a:r>
              <a:rPr lang="ko-KR" altLang="en-US" sz="1000" dirty="0">
                <a:solidFill>
                  <a:srgbClr val="002060"/>
                </a:solidFill>
              </a:rPr>
              <a:t>수</a:t>
            </a:r>
            <a:r>
              <a:rPr lang="ko-KR" altLang="en-US" sz="1000" dirty="0" smtClean="0">
                <a:solidFill>
                  <a:srgbClr val="002060"/>
                </a:solidFill>
              </a:rPr>
              <a:t>일</a:t>
            </a:r>
            <a:r>
              <a:rPr lang="en-US" altLang="ko-KR" sz="1000" dirty="0" smtClean="0">
                <a:solidFill>
                  <a:srgbClr val="FF0000"/>
                </a:solidFill>
              </a:rPr>
              <a:t>:</a:t>
            </a:r>
            <a:endParaRPr sz="10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0" name="Google Shape;275;p42"/>
          <p:cNvGrpSpPr/>
          <p:nvPr/>
        </p:nvGrpSpPr>
        <p:grpSpPr>
          <a:xfrm>
            <a:off x="7564686" y="1391506"/>
            <a:ext cx="1154998" cy="285893"/>
            <a:chOff x="9321013" y="1401031"/>
            <a:chExt cx="910205" cy="285893"/>
          </a:xfrm>
        </p:grpSpPr>
        <p:sp>
          <p:nvSpPr>
            <p:cNvPr id="131" name="Google Shape;276;p42"/>
            <p:cNvSpPr/>
            <p:nvPr/>
          </p:nvSpPr>
          <p:spPr>
            <a:xfrm>
              <a:off x="9321013" y="1401031"/>
              <a:ext cx="910205" cy="285893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 dirty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</a:t>
              </a:r>
              <a:r>
                <a:rPr 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</a:t>
              </a:r>
              <a:r>
                <a:rPr lang="ko-KR" altLang="en-US" sz="900" b="1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감사자</a:t>
              </a:r>
              <a:r>
                <a:rPr lang="ko-KR" alt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업로드 </a:t>
              </a:r>
              <a:endParaRPr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32" name="Google Shape;277;p42" descr="https://t1.daumcdn.net/cfile/tistory/242A7F4B55A48CAE16"/>
            <p:cNvPicPr preferRelativeResize="0"/>
            <p:nvPr/>
          </p:nvPicPr>
          <p:blipFill rotWithShape="1">
            <a:blip r:embed="rId4">
              <a:alphaModFix/>
            </a:blip>
            <a:srcRect l="5354" t="7425" r="63988" b="47661"/>
            <a:stretch/>
          </p:blipFill>
          <p:spPr>
            <a:xfrm>
              <a:off x="9366405" y="1450312"/>
              <a:ext cx="206104" cy="16152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76115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1275193" y="412204"/>
            <a:ext cx="619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2981285" y="41655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2"/>
          <p:cNvSpPr/>
          <p:nvPr/>
        </p:nvSpPr>
        <p:spPr>
          <a:xfrm>
            <a:off x="855205" y="917315"/>
            <a:ext cx="167093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en-US" sz="1200" b="1" dirty="0" err="1" smtClean="0">
                <a:solidFill>
                  <a:srgbClr val="333333"/>
                </a:solidFill>
              </a:rPr>
              <a:t>UltraSEEK</a:t>
            </a:r>
            <a:r>
              <a:rPr 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2061345" y="427638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2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42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2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5040882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42" descr="&lt;SmartSettings&gt;&lt;SmartResize enabled=&quot;True&quot; minWidth=&quot;12&quot; minHeight=&quot;12&quot; /&gt;&lt;/SmartSettings&gt;"/>
          <p:cNvGrpSpPr/>
          <p:nvPr/>
        </p:nvGrpSpPr>
        <p:grpSpPr>
          <a:xfrm>
            <a:off x="5024406" y="2982229"/>
            <a:ext cx="494321" cy="241995"/>
            <a:chOff x="1642629" y="1920028"/>
            <a:chExt cx="494321" cy="241995"/>
          </a:xfrm>
        </p:grpSpPr>
        <p:sp>
          <p:nvSpPr>
            <p:cNvPr id="284" name="Google Shape;284;p42"/>
            <p:cNvSpPr/>
            <p:nvPr/>
          </p:nvSpPr>
          <p:spPr>
            <a:xfrm>
              <a:off x="1642629" y="1920028"/>
              <a:ext cx="494321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64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Back</a:t>
              </a:r>
              <a:endParaRPr/>
            </a:p>
          </p:txBody>
        </p:sp>
        <p:sp>
          <p:nvSpPr>
            <p:cNvPr id="285" name="Google Shape;285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1722665" y="1991324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86" name="Google Shape;286;p42"/>
          <p:cNvSpPr txBox="1"/>
          <p:nvPr/>
        </p:nvSpPr>
        <p:spPr>
          <a:xfrm>
            <a:off x="5518727" y="2965641"/>
            <a:ext cx="62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2  3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42"/>
          <p:cNvGrpSpPr/>
          <p:nvPr/>
        </p:nvGrpSpPr>
        <p:grpSpPr>
          <a:xfrm>
            <a:off x="6138831" y="2979879"/>
            <a:ext cx="465796" cy="241995"/>
            <a:chOff x="7589857" y="3485809"/>
            <a:chExt cx="465796" cy="241995"/>
          </a:xfrm>
        </p:grpSpPr>
        <p:sp>
          <p:nvSpPr>
            <p:cNvPr id="288" name="Google Shape;288;p42"/>
            <p:cNvSpPr/>
            <p:nvPr/>
          </p:nvSpPr>
          <p:spPr>
            <a:xfrm>
              <a:off x="7589857" y="3485809"/>
              <a:ext cx="465796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45700" rIns="180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Next</a:t>
              </a:r>
              <a:endParaRPr/>
            </a:p>
          </p:txBody>
        </p:sp>
        <p:sp>
          <p:nvSpPr>
            <p:cNvPr id="289" name="Google Shape;289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7921500" y="3565513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aphicFrame>
        <p:nvGraphicFramePr>
          <p:cNvPr id="292" name="Google Shape;292;p42"/>
          <p:cNvGraphicFramePr/>
          <p:nvPr>
            <p:extLst>
              <p:ext uri="{D42A27DB-BD31-4B8C-83A1-F6EECF244321}">
                <p14:modId xmlns:p14="http://schemas.microsoft.com/office/powerpoint/2010/main" val="557762566"/>
              </p:ext>
            </p:extLst>
          </p:nvPr>
        </p:nvGraphicFramePr>
        <p:xfrm>
          <a:off x="1105643" y="1827428"/>
          <a:ext cx="10089092" cy="101763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253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456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다운로드여부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거래처명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검사자명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나이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성별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채혈일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접수일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완료일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strike="noStrike" cap="none">
                          <a:solidFill>
                            <a:srgbClr val="0088CC"/>
                          </a:solidFill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8704050010</a:t>
                      </a:r>
                      <a:endParaRPr sz="10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병원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권*환</a:t>
                      </a: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2026-07-10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2026-07-11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시작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sng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5904050334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박*윤</a:t>
                      </a:r>
                      <a:endParaRPr sz="1000" b="0" i="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2026-06-20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2026-06-21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2026-07-20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최종보고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9" name="Google Shape;299;p42"/>
          <p:cNvSpPr/>
          <p:nvPr/>
        </p:nvSpPr>
        <p:spPr>
          <a:xfrm>
            <a:off x="741803" y="3386473"/>
            <a:ext cx="4241988" cy="937877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ko-KR" altLang="en-US" sz="1100" b="1" dirty="0" err="1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결과지업로</a:t>
            </a:r>
            <a:r>
              <a:rPr lang="ko-KR" altLang="en-US" sz="1100" b="1" dirty="0" err="1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드</a:t>
            </a:r>
            <a:r>
              <a:rPr 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:  </a:t>
            </a:r>
            <a:r>
              <a:rPr lang="ko-KR" altLang="en-US" sz="1100" b="0" i="0" u="none" strike="noStrike" cap="none" dirty="0" smtClean="0">
                <a:solidFill>
                  <a:schemeClr val="tx1"/>
                </a:solidFill>
                <a:latin typeface="+mj-ea"/>
                <a:ea typeface="+mj-ea"/>
                <a:cs typeface="Quattrocento Sans"/>
                <a:sym typeface="Quattrocento Sans"/>
              </a:rPr>
              <a:t>여러 개의 결과지 파일을 동시에 업로드 가능 해야 함</a:t>
            </a:r>
            <a:endParaRPr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spcBef>
                <a:spcPts val="1200"/>
              </a:spcBef>
              <a:buSzPts val="1100"/>
            </a:pPr>
            <a:endParaRPr lang="en-US" altLang="ko-KR" sz="1100" dirty="0">
              <a:solidFill>
                <a:schemeClr val="tx1"/>
              </a:solidFill>
              <a:latin typeface="+mj-ea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endParaRPr sz="1100" i="0" u="none" strike="noStrike" cap="none" dirty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253964" y="195425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256900" y="228249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251044" y="2619524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" name="Google Shape;231;p41"/>
          <p:cNvSpPr/>
          <p:nvPr/>
        </p:nvSpPr>
        <p:spPr>
          <a:xfrm>
            <a:off x="6997272" y="2952750"/>
            <a:ext cx="4307565" cy="24955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54850" tIns="36575" rIns="54850" bIns="36575" anchor="t" anchorCtr="0">
            <a:noAutofit/>
          </a:bodyPr>
          <a:lstStyle/>
          <a:p>
            <a:pPr lvl="0"/>
            <a:r>
              <a:rPr lang="en-US" sz="1000" b="0" i="0" u="none" strike="noStrike" cap="non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🞤 </a:t>
            </a:r>
            <a:r>
              <a:rPr lang="ko-KR" altLang="en-US" sz="1000" b="0" i="0" u="none" strike="noStrike" cap="none" dirty="0" smtClean="0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 업로드</a:t>
            </a:r>
            <a:endParaRPr sz="1000" b="1" i="0" u="none" strike="noStrike" cap="none" dirty="0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7" name="Google Shape;232;p41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 rot="10800000" flipH="1">
            <a:off x="7119773" y="3201881"/>
            <a:ext cx="4146965" cy="969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142;p39"/>
          <p:cNvSpPr txBox="1"/>
          <p:nvPr/>
        </p:nvSpPr>
        <p:spPr>
          <a:xfrm>
            <a:off x="7432913" y="414229"/>
            <a:ext cx="120001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sng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u="sng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u="sng" dirty="0" smtClean="0">
                <a:solidFill>
                  <a:schemeClr val="lt1"/>
                </a:solidFill>
              </a:rPr>
              <a:t>검사</a:t>
            </a:r>
            <a:endParaRPr sz="1000" b="1" i="0" u="sng" strike="noStrike" cap="none" dirty="0">
              <a:solidFill>
                <a:schemeClr val="lt1"/>
              </a:solidFill>
              <a:sym typeface="Arial"/>
            </a:endParaRPr>
          </a:p>
        </p:txBody>
      </p:sp>
      <p:sp>
        <p:nvSpPr>
          <p:cNvPr id="94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267;p42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1" name="Google Shape;293;p42"/>
          <p:cNvSpPr/>
          <p:nvPr/>
        </p:nvSpPr>
        <p:spPr>
          <a:xfrm>
            <a:off x="11487809" y="1429264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1" name="Google Shape;323;p42"/>
          <p:cNvSpPr/>
          <p:nvPr/>
        </p:nvSpPr>
        <p:spPr>
          <a:xfrm>
            <a:off x="1253964" y="195425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0" name="Google Shape;225;p41"/>
          <p:cNvSpPr/>
          <p:nvPr/>
        </p:nvSpPr>
        <p:spPr>
          <a:xfrm>
            <a:off x="10967482" y="1415791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204;p41"/>
          <p:cNvSpPr/>
          <p:nvPr/>
        </p:nvSpPr>
        <p:spPr>
          <a:xfrm>
            <a:off x="4259152" y="1393769"/>
            <a:ext cx="1558106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err="1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거래처명</a:t>
            </a:r>
            <a:r>
              <a:rPr lang="en-US" altLang="ko-KR" sz="1000" b="0" i="0" u="none" strike="noStrike" cap="none" dirty="0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000" b="0" i="0" u="none" strike="noStrike" cap="none" dirty="0" err="1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검사자명</a:t>
            </a:r>
            <a:r>
              <a:rPr lang="en-US" sz="1000" b="0" i="0" u="none" strike="noStrike" cap="none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/ID</a:t>
            </a:r>
            <a:endParaRPr sz="1000" b="0" i="0" u="none" strike="noStrike" cap="none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205;p41"/>
          <p:cNvSpPr/>
          <p:nvPr/>
        </p:nvSpPr>
        <p:spPr>
          <a:xfrm>
            <a:off x="5871536" y="1396935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212;p41"/>
          <p:cNvSpPr/>
          <p:nvPr/>
        </p:nvSpPr>
        <p:spPr>
          <a:xfrm>
            <a:off x="1501884" y="1413159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213;p41"/>
          <p:cNvSpPr/>
          <p:nvPr/>
        </p:nvSpPr>
        <p:spPr>
          <a:xfrm>
            <a:off x="2483722" y="1441602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5" name="Google Shape;214;p41"/>
          <p:cNvSpPr txBox="1"/>
          <p:nvPr/>
        </p:nvSpPr>
        <p:spPr>
          <a:xfrm>
            <a:off x="2701772" y="1374513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215;p41"/>
          <p:cNvSpPr/>
          <p:nvPr/>
        </p:nvSpPr>
        <p:spPr>
          <a:xfrm>
            <a:off x="2951067" y="1407464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216;p41"/>
          <p:cNvSpPr/>
          <p:nvPr/>
        </p:nvSpPr>
        <p:spPr>
          <a:xfrm>
            <a:off x="3932905" y="1435907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8" name="Google Shape;212;p41"/>
          <p:cNvSpPr/>
          <p:nvPr/>
        </p:nvSpPr>
        <p:spPr>
          <a:xfrm>
            <a:off x="693280" y="1369864"/>
            <a:ext cx="729529" cy="319539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9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의뢰일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247;p41"/>
          <p:cNvSpPr/>
          <p:nvPr/>
        </p:nvSpPr>
        <p:spPr>
          <a:xfrm>
            <a:off x="1231026" y="1461313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294;p42"/>
          <p:cNvSpPr/>
          <p:nvPr/>
        </p:nvSpPr>
        <p:spPr>
          <a:xfrm>
            <a:off x="9904695" y="1424258"/>
            <a:ext cx="1009862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</a:t>
            </a:r>
            <a:r>
              <a:rPr 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다운로드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41" name="Google Shape;275;p42"/>
          <p:cNvGrpSpPr/>
          <p:nvPr/>
        </p:nvGrpSpPr>
        <p:grpSpPr>
          <a:xfrm>
            <a:off x="6296125" y="1391506"/>
            <a:ext cx="1268561" cy="285893"/>
            <a:chOff x="9268471" y="1401031"/>
            <a:chExt cx="910205" cy="285893"/>
          </a:xfrm>
        </p:grpSpPr>
        <p:sp>
          <p:nvSpPr>
            <p:cNvPr id="142" name="Google Shape;276;p42"/>
            <p:cNvSpPr/>
            <p:nvPr/>
          </p:nvSpPr>
          <p:spPr>
            <a:xfrm>
              <a:off x="9268471" y="1401031"/>
              <a:ext cx="910205" cy="285893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 dirty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</a:t>
              </a:r>
              <a:r>
                <a:rPr 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</a:t>
              </a:r>
              <a:r>
                <a:rPr lang="ko-KR" alt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검사자다운로드 </a:t>
              </a:r>
              <a:endParaRPr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43" name="Google Shape;277;p42" descr="https://t1.daumcdn.net/cfile/tistory/242A7F4B55A48CAE16"/>
            <p:cNvPicPr preferRelativeResize="0"/>
            <p:nvPr/>
          </p:nvPicPr>
          <p:blipFill rotWithShape="1">
            <a:blip r:embed="rId4">
              <a:alphaModFix/>
            </a:blip>
            <a:srcRect l="5354" t="7425" r="63988" b="47661"/>
            <a:stretch/>
          </p:blipFill>
          <p:spPr>
            <a:xfrm>
              <a:off x="9315462" y="1450312"/>
              <a:ext cx="169044" cy="1615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294;p42"/>
          <p:cNvSpPr/>
          <p:nvPr/>
        </p:nvSpPr>
        <p:spPr>
          <a:xfrm>
            <a:off x="8923620" y="1424258"/>
            <a:ext cx="938653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</a:t>
            </a:r>
            <a:r>
              <a:rPr 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000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업로드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45" name="Google Shape;275;p42"/>
          <p:cNvGrpSpPr/>
          <p:nvPr/>
        </p:nvGrpSpPr>
        <p:grpSpPr>
          <a:xfrm>
            <a:off x="7564686" y="1391514"/>
            <a:ext cx="1154998" cy="285876"/>
            <a:chOff x="9321013" y="1401039"/>
            <a:chExt cx="910205" cy="285876"/>
          </a:xfrm>
        </p:grpSpPr>
        <p:sp>
          <p:nvSpPr>
            <p:cNvPr id="146" name="Google Shape;276;p42"/>
            <p:cNvSpPr/>
            <p:nvPr/>
          </p:nvSpPr>
          <p:spPr>
            <a:xfrm>
              <a:off x="9321013" y="1401039"/>
              <a:ext cx="910205" cy="285876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 dirty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</a:t>
              </a:r>
              <a:r>
                <a:rPr 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</a:t>
              </a:r>
              <a:r>
                <a:rPr lang="ko-KR" alt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검사자업로드 </a:t>
              </a:r>
              <a:endParaRPr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47" name="Google Shape;277;p42" descr="https://t1.daumcdn.net/cfile/tistory/242A7F4B55A48CAE16"/>
            <p:cNvPicPr preferRelativeResize="0"/>
            <p:nvPr/>
          </p:nvPicPr>
          <p:blipFill rotWithShape="1">
            <a:blip r:embed="rId4">
              <a:alphaModFix/>
            </a:blip>
            <a:srcRect l="5354" t="7425" r="63988" b="47661"/>
            <a:stretch/>
          </p:blipFill>
          <p:spPr>
            <a:xfrm>
              <a:off x="9366405" y="1450312"/>
              <a:ext cx="206104" cy="1615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793" y="3386473"/>
            <a:ext cx="393795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5668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1275193" y="412204"/>
            <a:ext cx="6190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2981285" y="41655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2"/>
          <p:cNvSpPr/>
          <p:nvPr/>
        </p:nvSpPr>
        <p:spPr>
          <a:xfrm>
            <a:off x="855205" y="917315"/>
            <a:ext cx="167093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🞤 </a:t>
            </a:r>
            <a:r>
              <a:rPr lang="en-US" sz="1200" b="1" dirty="0" err="1" smtClean="0">
                <a:solidFill>
                  <a:srgbClr val="333333"/>
                </a:solidFill>
              </a:rPr>
              <a:t>PGx</a:t>
            </a:r>
            <a:r>
              <a:rPr 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 i="0" u="none" strike="noStrike" cap="none" dirty="0" smtClean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endParaRPr sz="1200" b="1" i="0" u="none" strike="noStrike" cap="none" dirty="0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2061345" y="427638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847343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2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42"/>
          <p:cNvSpPr txBox="1"/>
          <p:nvPr/>
        </p:nvSpPr>
        <p:spPr>
          <a:xfrm>
            <a:off x="3779305" y="42486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 관리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2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5040882" y="42486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 결과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42" descr="&lt;SmartSettings&gt;&lt;SmartResize enabled=&quot;True&quot; minWidth=&quot;12&quot; minHeight=&quot;12&quot; /&gt;&lt;/SmartSettings&gt;"/>
          <p:cNvGrpSpPr/>
          <p:nvPr/>
        </p:nvGrpSpPr>
        <p:grpSpPr>
          <a:xfrm>
            <a:off x="5024406" y="2982229"/>
            <a:ext cx="494321" cy="241995"/>
            <a:chOff x="1642629" y="1920028"/>
            <a:chExt cx="494321" cy="241995"/>
          </a:xfrm>
        </p:grpSpPr>
        <p:sp>
          <p:nvSpPr>
            <p:cNvPr id="284" name="Google Shape;284;p42"/>
            <p:cNvSpPr/>
            <p:nvPr/>
          </p:nvSpPr>
          <p:spPr>
            <a:xfrm>
              <a:off x="1642629" y="1920028"/>
              <a:ext cx="494321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75" tIns="45700" rIns="64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Back</a:t>
              </a:r>
              <a:endParaRPr/>
            </a:p>
          </p:txBody>
        </p:sp>
        <p:sp>
          <p:nvSpPr>
            <p:cNvPr id="285" name="Google Shape;285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1722665" y="1991324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rgbClr val="80808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86" name="Google Shape;286;p42"/>
          <p:cNvSpPr txBox="1"/>
          <p:nvPr/>
        </p:nvSpPr>
        <p:spPr>
          <a:xfrm>
            <a:off x="5518727" y="2965641"/>
            <a:ext cx="627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2  3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42"/>
          <p:cNvGrpSpPr/>
          <p:nvPr/>
        </p:nvGrpSpPr>
        <p:grpSpPr>
          <a:xfrm>
            <a:off x="6138831" y="2979879"/>
            <a:ext cx="465796" cy="241995"/>
            <a:chOff x="7589857" y="3485809"/>
            <a:chExt cx="465796" cy="241995"/>
          </a:xfrm>
        </p:grpSpPr>
        <p:sp>
          <p:nvSpPr>
            <p:cNvPr id="288" name="Google Shape;288;p42"/>
            <p:cNvSpPr/>
            <p:nvPr/>
          </p:nvSpPr>
          <p:spPr>
            <a:xfrm>
              <a:off x="7589857" y="3485809"/>
              <a:ext cx="465796" cy="241995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45700" rIns="1800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Next</a:t>
              </a:r>
              <a:endParaRPr/>
            </a:p>
          </p:txBody>
        </p:sp>
        <p:sp>
          <p:nvSpPr>
            <p:cNvPr id="289" name="Google Shape;289;p42" descr="&lt;SmartSettings&gt;&lt;SmartResize anchorLeft=&quot;Absolute&quot; anchorTop=&quot;None&quot; anchorRight=&quot;None&quot; anchorBottom=&quot;None&quot; /&gt;&lt;/SmartSettings&gt;"/>
            <p:cNvSpPr/>
            <p:nvPr/>
          </p:nvSpPr>
          <p:spPr>
            <a:xfrm>
              <a:off x="7921500" y="3565513"/>
              <a:ext cx="48572" cy="99402"/>
            </a:xfrm>
            <a:custGeom>
              <a:avLst/>
              <a:gdLst/>
              <a:ahLst/>
              <a:cxnLst/>
              <a:rect l="l" t="t" r="r" b="b"/>
              <a:pathLst>
                <a:path w="186" h="389" extrusionOk="0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952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aphicFrame>
        <p:nvGraphicFramePr>
          <p:cNvPr id="292" name="Google Shape;292;p42"/>
          <p:cNvGraphicFramePr/>
          <p:nvPr>
            <p:extLst>
              <p:ext uri="{D42A27DB-BD31-4B8C-83A1-F6EECF244321}">
                <p14:modId xmlns:p14="http://schemas.microsoft.com/office/powerpoint/2010/main" val="4187619793"/>
              </p:ext>
            </p:extLst>
          </p:nvPr>
        </p:nvGraphicFramePr>
        <p:xfrm>
          <a:off x="1105643" y="1827428"/>
          <a:ext cx="10089092" cy="1017630"/>
        </p:xfrm>
        <a:graphic>
          <a:graphicData uri="http://schemas.openxmlformats.org/drawingml/2006/table">
            <a:tbl>
              <a:tblPr firstRow="1" firstCol="1">
                <a:noFill/>
                <a:tableStyleId>{886EACA0-F0CC-4CC7-8EF1-4C8A09502556}</a:tableStyleId>
              </a:tblPr>
              <a:tblGrid>
                <a:gridCol w="253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456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93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5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b="1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다운로드여부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err="1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거래처명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검사자명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나이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성별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채혈일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접수일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완료일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</a:t>
                      </a:r>
                      <a:endParaRPr sz="900" b="1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strike="noStrike" cap="none">
                          <a:solidFill>
                            <a:srgbClr val="0088CC"/>
                          </a:solidFill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8704050010</a:t>
                      </a:r>
                      <a:endParaRPr sz="1000" u="none" strike="noStrike" cap="none"/>
                    </a:p>
                  </a:txBody>
                  <a:tcPr marL="60950" marR="60950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병원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권*환</a:t>
                      </a:r>
                      <a:endParaRPr sz="10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2026-07-10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2026-07-11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시작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5F5F5F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sng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  <a:hlinkClick r:id="rId3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5904050334</a:t>
                      </a:r>
                      <a:endParaRPr sz="1000" u="none" strike="noStrike" cap="none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박*윤</a:t>
                      </a:r>
                      <a:endParaRPr sz="1000" b="0" i="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rgbClr val="5F5F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2026-06-20</a:t>
                      </a:r>
                      <a:endParaRPr sz="900" u="none" strike="noStrike" cap="none" dirty="0">
                        <a:solidFill>
                          <a:srgbClr val="5F5F5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2026-06-21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2026-07-20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최종보고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300" marR="82300" marT="82300" marB="82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9" name="Google Shape;299;p42"/>
          <p:cNvSpPr/>
          <p:nvPr/>
        </p:nvSpPr>
        <p:spPr>
          <a:xfrm>
            <a:off x="741803" y="3386473"/>
            <a:ext cx="4241988" cy="747377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dirty="0" err="1" smtClean="0">
                <a:solidFill>
                  <a:srgbClr val="C00000"/>
                </a:solidFill>
                <a:latin typeface="+mj-ea"/>
                <a:ea typeface="+mj-ea"/>
                <a:sym typeface="Quattrocento Sans"/>
              </a:rPr>
              <a:t>UltraSEEK</a:t>
            </a:r>
            <a:r>
              <a:rPr lang="en-US" sz="1100" b="1" dirty="0" smtClean="0">
                <a:solidFill>
                  <a:srgbClr val="C00000"/>
                </a:solidFill>
                <a:latin typeface="+mj-ea"/>
                <a:ea typeface="+mj-ea"/>
                <a:sym typeface="Quattrocento Sans"/>
              </a:rPr>
              <a:t> 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  <a:sym typeface="Quattrocento Sans"/>
              </a:rPr>
              <a:t>와 완전히 동일한 구성으로 </a:t>
            </a:r>
            <a:r>
              <a:rPr lang="ko-KR" altLang="en-US" sz="1100" b="1" dirty="0" err="1" smtClean="0">
                <a:solidFill>
                  <a:srgbClr val="C00000"/>
                </a:solidFill>
                <a:latin typeface="+mj-ea"/>
                <a:ea typeface="+mj-ea"/>
                <a:sym typeface="Quattrocento Sans"/>
              </a:rPr>
              <a:t>매뉴만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  <a:sym typeface="Quattrocento Sans"/>
              </a:rPr>
              <a:t> 분리하여 만듦</a:t>
            </a:r>
            <a:endParaRPr sz="1100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spcBef>
                <a:spcPts val="1200"/>
              </a:spcBef>
              <a:buSzPts val="1100"/>
            </a:pPr>
            <a:endParaRPr lang="en-US" altLang="ko-KR" sz="1100" dirty="0">
              <a:solidFill>
                <a:schemeClr val="tx1"/>
              </a:solidFill>
              <a:latin typeface="+mj-ea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endParaRPr sz="1100" i="0" u="none" strike="noStrike" cap="none" dirty="0">
              <a:solidFill>
                <a:schemeClr val="tx1"/>
              </a:solidFill>
              <a:latin typeface="+mj-ea"/>
              <a:ea typeface="+mj-ea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253964" y="195425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256900" y="228249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251044" y="2619524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" name="Google Shape;118;p39"/>
          <p:cNvSpPr txBox="1"/>
          <p:nvPr/>
        </p:nvSpPr>
        <p:spPr>
          <a:xfrm>
            <a:off x="3779305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119;p39"/>
          <p:cNvSpPr txBox="1"/>
          <p:nvPr/>
        </p:nvSpPr>
        <p:spPr>
          <a:xfrm>
            <a:off x="2653741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 관리</a:t>
            </a:r>
            <a:endParaRPr sz="10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142;p39"/>
          <p:cNvSpPr txBox="1"/>
          <p:nvPr/>
        </p:nvSpPr>
        <p:spPr>
          <a:xfrm>
            <a:off x="7167089" y="414229"/>
            <a:ext cx="110503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118;p39"/>
          <p:cNvSpPr txBox="1"/>
          <p:nvPr/>
        </p:nvSpPr>
        <p:spPr>
          <a:xfrm>
            <a:off x="498437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142;p39"/>
          <p:cNvSpPr txBox="1"/>
          <p:nvPr/>
        </p:nvSpPr>
        <p:spPr>
          <a:xfrm>
            <a:off x="6196935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142;p39"/>
          <p:cNvSpPr txBox="1"/>
          <p:nvPr/>
        </p:nvSpPr>
        <p:spPr>
          <a:xfrm>
            <a:off x="8595448" y="417767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115;p39"/>
          <p:cNvSpPr/>
          <p:nvPr/>
        </p:nvSpPr>
        <p:spPr>
          <a:xfrm>
            <a:off x="0" y="412871"/>
            <a:ext cx="12192000" cy="248980"/>
          </a:xfrm>
          <a:prstGeom prst="rect">
            <a:avLst/>
          </a:prstGeom>
          <a:solidFill>
            <a:srgbClr val="14314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116;p39"/>
          <p:cNvSpPr txBox="1"/>
          <p:nvPr/>
        </p:nvSpPr>
        <p:spPr>
          <a:xfrm>
            <a:off x="8898756" y="156752"/>
            <a:ext cx="73449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117;p39"/>
          <p:cNvSpPr/>
          <p:nvPr/>
        </p:nvSpPr>
        <p:spPr>
          <a:xfrm>
            <a:off x="9283331" y="191587"/>
            <a:ext cx="583476" cy="177739"/>
          </a:xfrm>
          <a:prstGeom prst="rect">
            <a:avLst/>
          </a:prstGeom>
          <a:gradFill>
            <a:gsLst>
              <a:gs pos="0">
                <a:srgbClr val="FAFAFA"/>
              </a:gs>
              <a:gs pos="74000">
                <a:srgbClr val="D6D6D6"/>
              </a:gs>
              <a:gs pos="83000">
                <a:srgbClr val="D6D6D6"/>
              </a:gs>
              <a:gs pos="100000">
                <a:srgbClr val="E3E3E3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로그아웃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118;p39"/>
          <p:cNvSpPr txBox="1"/>
          <p:nvPr/>
        </p:nvSpPr>
        <p:spPr>
          <a:xfrm>
            <a:off x="4353487" y="424868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거래처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119;p39"/>
          <p:cNvSpPr txBox="1"/>
          <p:nvPr/>
        </p:nvSpPr>
        <p:spPr>
          <a:xfrm>
            <a:off x="2526145" y="427638"/>
            <a:ext cx="69762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검사종류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120;p39"/>
          <p:cNvSpPr txBox="1"/>
          <p:nvPr/>
        </p:nvSpPr>
        <p:spPr>
          <a:xfrm>
            <a:off x="1461665" y="43040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r>
              <a:rPr lang="en-US" sz="1000" b="1" i="0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142;p39"/>
          <p:cNvSpPr txBox="1"/>
          <p:nvPr/>
        </p:nvSpPr>
        <p:spPr>
          <a:xfrm>
            <a:off x="7432914" y="414229"/>
            <a:ext cx="119242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 err="1" smtClean="0">
                <a:solidFill>
                  <a:schemeClr val="lt1"/>
                </a:solidFill>
              </a:rPr>
              <a:t>UltraSEEK</a:t>
            </a:r>
            <a:r>
              <a:rPr lang="en-US" sz="1000" b="1" dirty="0" smtClean="0">
                <a:solidFill>
                  <a:schemeClr val="lt1"/>
                </a:solidFill>
              </a:rPr>
              <a:t> </a:t>
            </a:r>
            <a:r>
              <a:rPr lang="ko-KR" altLang="en-US" sz="1000" b="1" dirty="0" smtClean="0">
                <a:solidFill>
                  <a:schemeClr val="lt1"/>
                </a:solidFill>
              </a:rPr>
              <a:t>검사</a:t>
            </a:r>
            <a:endParaRPr sz="1000" b="1" i="0" strike="noStrike" cap="none" dirty="0">
              <a:solidFill>
                <a:schemeClr val="lt1"/>
              </a:solidFill>
              <a:sym typeface="Arial"/>
            </a:endParaRPr>
          </a:p>
        </p:txBody>
      </p:sp>
      <p:sp>
        <p:nvSpPr>
          <p:cNvPr id="94" name="Google Shape;118;p39"/>
          <p:cNvSpPr txBox="1"/>
          <p:nvPr/>
        </p:nvSpPr>
        <p:spPr>
          <a:xfrm>
            <a:off x="5409692" y="417773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142;p39"/>
          <p:cNvSpPr txBox="1"/>
          <p:nvPr/>
        </p:nvSpPr>
        <p:spPr>
          <a:xfrm>
            <a:off x="6484026" y="407134"/>
            <a:ext cx="75676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142;p39"/>
          <p:cNvSpPr txBox="1"/>
          <p:nvPr/>
        </p:nvSpPr>
        <p:spPr>
          <a:xfrm>
            <a:off x="8861273" y="407134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sng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PGx</a:t>
            </a:r>
            <a:r>
              <a:rPr lang="en-US" sz="1000" b="1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18;p39"/>
          <p:cNvSpPr txBox="1"/>
          <p:nvPr/>
        </p:nvSpPr>
        <p:spPr>
          <a:xfrm>
            <a:off x="3325624" y="417773"/>
            <a:ext cx="87075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 smtClean="0">
                <a:solidFill>
                  <a:schemeClr val="lt1"/>
                </a:solidFill>
              </a:rPr>
              <a:t>유전자</a:t>
            </a:r>
            <a:r>
              <a:rPr lang="en-US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267;p42" descr="&lt;SmartSettings&gt;&lt;SmartResize anchorLeft=&quot;Relative&quot; anchorTop=&quot;Absolute&quot; anchorRight=&quot;Relative&quot; anchorBottom=&quot;None&quot; /&gt;&lt;/SmartSettings&gt;"/>
          <p:cNvCxnSpPr/>
          <p:nvPr/>
        </p:nvCxnSpPr>
        <p:spPr>
          <a:xfrm>
            <a:off x="922076" y="1204623"/>
            <a:ext cx="10699117" cy="0"/>
          </a:xfrm>
          <a:prstGeom prst="straightConnector1">
            <a:avLst/>
          </a:prstGeom>
          <a:noFill/>
          <a:ln w="9525" cap="sq" cmpd="sng">
            <a:solidFill>
              <a:srgbClr val="1E4E7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1" name="Google Shape;293;p42"/>
          <p:cNvSpPr/>
          <p:nvPr/>
        </p:nvSpPr>
        <p:spPr>
          <a:xfrm>
            <a:off x="11487809" y="1429264"/>
            <a:ext cx="515029" cy="250250"/>
          </a:xfrm>
          <a:prstGeom prst="rect">
            <a:avLst/>
          </a:prstGeom>
          <a:gradFill>
            <a:gsLst>
              <a:gs pos="0">
                <a:srgbClr val="BFBFBF"/>
              </a:gs>
              <a:gs pos="56000">
                <a:srgbClr val="D8D8D8"/>
              </a:gs>
              <a:gs pos="83000">
                <a:srgbClr val="A5A5A5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삭 제</a:t>
            </a:r>
            <a:endParaRPr sz="900" b="1" i="0" u="none" strike="noStrike" cap="none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1" name="Google Shape;323;p42"/>
          <p:cNvSpPr/>
          <p:nvPr/>
        </p:nvSpPr>
        <p:spPr>
          <a:xfrm>
            <a:off x="1253964" y="1954252"/>
            <a:ext cx="128588" cy="1285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0" name="Google Shape;225;p41"/>
          <p:cNvSpPr/>
          <p:nvPr/>
        </p:nvSpPr>
        <p:spPr>
          <a:xfrm>
            <a:off x="10967482" y="1415791"/>
            <a:ext cx="472716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추가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204;p41"/>
          <p:cNvSpPr/>
          <p:nvPr/>
        </p:nvSpPr>
        <p:spPr>
          <a:xfrm>
            <a:off x="4259152" y="1393769"/>
            <a:ext cx="1558106" cy="299568"/>
          </a:xfrm>
          <a:prstGeom prst="roundRect">
            <a:avLst>
              <a:gd name="adj" fmla="val 1078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 err="1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거래처명</a:t>
            </a:r>
            <a:r>
              <a:rPr lang="en-US" altLang="ko-KR" sz="1000" b="0" i="0" u="none" strike="noStrike" cap="none" dirty="0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000" b="0" i="0" u="none" strike="noStrike" cap="none" dirty="0" err="1" smtClean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검사자명</a:t>
            </a:r>
            <a:r>
              <a:rPr lang="en-US" sz="1000" b="0" i="0" u="none" strike="noStrike" cap="none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/ID</a:t>
            </a:r>
            <a:endParaRPr sz="1000" b="0" i="0" u="none" strike="noStrike" cap="none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205;p41"/>
          <p:cNvSpPr/>
          <p:nvPr/>
        </p:nvSpPr>
        <p:spPr>
          <a:xfrm>
            <a:off x="5871536" y="1396935"/>
            <a:ext cx="418845" cy="271132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 색</a:t>
            </a:r>
            <a:endParaRPr sz="900" b="1" i="0" u="none" strike="noStrike" cap="non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212;p41"/>
          <p:cNvSpPr/>
          <p:nvPr/>
        </p:nvSpPr>
        <p:spPr>
          <a:xfrm>
            <a:off x="1501884" y="1413159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213;p41"/>
          <p:cNvSpPr/>
          <p:nvPr/>
        </p:nvSpPr>
        <p:spPr>
          <a:xfrm>
            <a:off x="2483722" y="1441602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5" name="Google Shape;214;p41"/>
          <p:cNvSpPr txBox="1"/>
          <p:nvPr/>
        </p:nvSpPr>
        <p:spPr>
          <a:xfrm>
            <a:off x="2701772" y="1374513"/>
            <a:ext cx="2888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215;p41"/>
          <p:cNvSpPr/>
          <p:nvPr/>
        </p:nvSpPr>
        <p:spPr>
          <a:xfrm>
            <a:off x="2951067" y="1407464"/>
            <a:ext cx="1205731" cy="252000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216;p41"/>
          <p:cNvSpPr/>
          <p:nvPr/>
        </p:nvSpPr>
        <p:spPr>
          <a:xfrm>
            <a:off x="3932905" y="1435907"/>
            <a:ext cx="194254" cy="194254"/>
          </a:xfrm>
          <a:custGeom>
            <a:avLst/>
            <a:gdLst/>
            <a:ahLst/>
            <a:cxnLst/>
            <a:rect l="l" t="t" r="r" b="b"/>
            <a:pathLst>
              <a:path w="667" h="667" extrusionOk="0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8" name="Google Shape;212;p41"/>
          <p:cNvSpPr/>
          <p:nvPr/>
        </p:nvSpPr>
        <p:spPr>
          <a:xfrm>
            <a:off x="693280" y="1369864"/>
            <a:ext cx="729529" cy="319539"/>
          </a:xfrm>
          <a:prstGeom prst="roundRect">
            <a:avLst>
              <a:gd name="adj" fmla="val 28305"/>
            </a:avLst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0575" tIns="64000" rIns="100575" bIns="64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9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의뢰일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247;p41"/>
          <p:cNvSpPr/>
          <p:nvPr/>
        </p:nvSpPr>
        <p:spPr>
          <a:xfrm>
            <a:off x="1231026" y="1461313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294;p42"/>
          <p:cNvSpPr/>
          <p:nvPr/>
        </p:nvSpPr>
        <p:spPr>
          <a:xfrm>
            <a:off x="9904695" y="1424258"/>
            <a:ext cx="1009862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</a:t>
            </a:r>
            <a:r>
              <a:rPr 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다운로드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41" name="Google Shape;275;p42"/>
          <p:cNvGrpSpPr/>
          <p:nvPr/>
        </p:nvGrpSpPr>
        <p:grpSpPr>
          <a:xfrm>
            <a:off x="6383586" y="1391506"/>
            <a:ext cx="1154998" cy="285893"/>
            <a:chOff x="9268471" y="1401031"/>
            <a:chExt cx="910205" cy="285893"/>
          </a:xfrm>
        </p:grpSpPr>
        <p:sp>
          <p:nvSpPr>
            <p:cNvPr id="142" name="Google Shape;276;p42"/>
            <p:cNvSpPr/>
            <p:nvPr/>
          </p:nvSpPr>
          <p:spPr>
            <a:xfrm>
              <a:off x="9268471" y="1401031"/>
              <a:ext cx="910205" cy="285893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 dirty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</a:t>
              </a:r>
              <a:r>
                <a:rPr 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</a:t>
              </a:r>
              <a:r>
                <a:rPr lang="ko-KR" alt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엑셀다운로드 </a:t>
              </a:r>
              <a:endParaRPr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43" name="Google Shape;277;p42" descr="https://t1.daumcdn.net/cfile/tistory/242A7F4B55A48CAE16"/>
            <p:cNvPicPr preferRelativeResize="0"/>
            <p:nvPr/>
          </p:nvPicPr>
          <p:blipFill rotWithShape="1">
            <a:blip r:embed="rId4">
              <a:alphaModFix/>
            </a:blip>
            <a:srcRect l="5354" t="7425" r="63988" b="47661"/>
            <a:stretch/>
          </p:blipFill>
          <p:spPr>
            <a:xfrm>
              <a:off x="9366405" y="1450312"/>
              <a:ext cx="206104" cy="1615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294;p42"/>
          <p:cNvSpPr/>
          <p:nvPr/>
        </p:nvSpPr>
        <p:spPr>
          <a:xfrm>
            <a:off x="8923620" y="1424258"/>
            <a:ext cx="938653" cy="255256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결과지</a:t>
            </a:r>
            <a:r>
              <a:rPr lang="en-US" sz="1000" b="0" i="0" u="none" strike="noStrike" cap="none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ko-KR" altLang="en-US" sz="1000" dirty="0" smtClean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업로드</a:t>
            </a:r>
            <a:endParaRPr sz="1000" b="0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45" name="Google Shape;275;p42"/>
          <p:cNvGrpSpPr/>
          <p:nvPr/>
        </p:nvGrpSpPr>
        <p:grpSpPr>
          <a:xfrm>
            <a:off x="7564686" y="1391506"/>
            <a:ext cx="1154998" cy="285893"/>
            <a:chOff x="9321013" y="1401031"/>
            <a:chExt cx="910205" cy="285893"/>
          </a:xfrm>
        </p:grpSpPr>
        <p:sp>
          <p:nvSpPr>
            <p:cNvPr id="146" name="Google Shape;276;p42"/>
            <p:cNvSpPr/>
            <p:nvPr/>
          </p:nvSpPr>
          <p:spPr>
            <a:xfrm>
              <a:off x="9321013" y="1401031"/>
              <a:ext cx="910205" cy="285893"/>
            </a:xfrm>
            <a:prstGeom prst="roundRect">
              <a:avLst>
                <a:gd name="adj" fmla="val 11182"/>
              </a:avLst>
            </a:prstGeom>
            <a:solidFill>
              <a:srgbClr val="A8D08C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64000" rIns="91425" bIns="640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 dirty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</a:t>
              </a:r>
              <a:r>
                <a:rPr 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</a:t>
              </a:r>
              <a:r>
                <a:rPr lang="ko-KR" altLang="en-US" sz="900" b="1" i="0" u="none" strike="noStrike" cap="none" dirty="0" smtClean="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엑셀 업로드 </a:t>
              </a:r>
              <a:endParaRPr sz="9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47" name="Google Shape;277;p42" descr="https://t1.daumcdn.net/cfile/tistory/242A7F4B55A48CAE16"/>
            <p:cNvPicPr preferRelativeResize="0"/>
            <p:nvPr/>
          </p:nvPicPr>
          <p:blipFill rotWithShape="1">
            <a:blip r:embed="rId4">
              <a:alphaModFix/>
            </a:blip>
            <a:srcRect l="5354" t="7425" r="63988" b="47661"/>
            <a:stretch/>
          </p:blipFill>
          <p:spPr>
            <a:xfrm>
              <a:off x="9366405" y="1450312"/>
              <a:ext cx="206104" cy="16152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62803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/>
          <p:nvPr/>
        </p:nvSpPr>
        <p:spPr>
          <a:xfrm>
            <a:off x="3446585" y="764921"/>
            <a:ext cx="4545623" cy="5178669"/>
          </a:xfrm>
          <a:prstGeom prst="rect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3898573" y="4866288"/>
            <a:ext cx="3681032" cy="362275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조회하기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3"/>
          <p:cNvSpPr txBox="1"/>
          <p:nvPr/>
        </p:nvSpPr>
        <p:spPr>
          <a:xfrm>
            <a:off x="3721398" y="1995839"/>
            <a:ext cx="412543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 err="1" smtClean="0">
                <a:solidFill>
                  <a:srgbClr val="7F7F7F"/>
                </a:solidFill>
              </a:rPr>
              <a:t>암만성질</a:t>
            </a:r>
            <a:r>
              <a:rPr lang="ko-KR" altLang="en-US" sz="2000" b="1" dirty="0" err="1">
                <a:solidFill>
                  <a:srgbClr val="7F7F7F"/>
                </a:solidFill>
              </a:rPr>
              <a:t>환</a:t>
            </a:r>
            <a:r>
              <a:rPr lang="en-US" sz="2000" b="1" i="0" u="none" strike="noStrike" cap="none" dirty="0" smtClean="0">
                <a:solidFill>
                  <a:srgbClr val="7F7F7F"/>
                </a:solidFill>
                <a:sym typeface="Arial"/>
              </a:rPr>
              <a:t>  </a:t>
            </a:r>
            <a:r>
              <a:rPr lang="en-US" sz="2000" b="1" i="0" u="none" strike="noStrike" cap="none" dirty="0" err="1" smtClean="0">
                <a:solidFill>
                  <a:srgbClr val="7F7F7F"/>
                </a:solidFill>
                <a:sym typeface="Arial"/>
              </a:rPr>
              <a:t>검사</a:t>
            </a:r>
            <a:r>
              <a:rPr lang="en-US" sz="2000" b="1" i="0" u="none" strike="noStrike" cap="none" dirty="0" smtClean="0">
                <a:solidFill>
                  <a:srgbClr val="7F7F7F"/>
                </a:solidFill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7F7F7F"/>
                </a:solidFill>
                <a:sym typeface="Arial"/>
              </a:rPr>
              <a:t>진행</a:t>
            </a:r>
            <a:r>
              <a:rPr lang="en-US" sz="2000" b="1" i="0" u="none" strike="noStrike" cap="none" dirty="0">
                <a:solidFill>
                  <a:srgbClr val="7F7F7F"/>
                </a:solidFill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7F7F7F"/>
                </a:solidFill>
                <a:sym typeface="Arial"/>
              </a:rPr>
              <a:t>사항</a:t>
            </a:r>
            <a:r>
              <a:rPr lang="en-US" sz="2000" b="1" i="0" u="none" strike="noStrike" cap="none" dirty="0">
                <a:solidFill>
                  <a:srgbClr val="7F7F7F"/>
                </a:solidFill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7F7F7F"/>
                </a:solidFill>
                <a:sym typeface="Arial"/>
              </a:rPr>
              <a:t>조회</a:t>
            </a:r>
            <a:endParaRPr sz="2000" b="1" i="0" u="none" strike="noStrike" cap="none" dirty="0">
              <a:solidFill>
                <a:srgbClr val="7F7F7F"/>
              </a:solidFill>
              <a:sym typeface="Arial"/>
            </a:endParaRPr>
          </a:p>
        </p:txBody>
      </p:sp>
      <p:cxnSp>
        <p:nvCxnSpPr>
          <p:cNvPr id="333" name="Google Shape;333;p43"/>
          <p:cNvCxnSpPr/>
          <p:nvPr/>
        </p:nvCxnSpPr>
        <p:spPr>
          <a:xfrm>
            <a:off x="3910659" y="3610025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4" name="Google Shape;334;p43"/>
          <p:cNvCxnSpPr/>
          <p:nvPr/>
        </p:nvCxnSpPr>
        <p:spPr>
          <a:xfrm>
            <a:off x="3919623" y="4129979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5" name="Google Shape;335;p43"/>
          <p:cNvSpPr/>
          <p:nvPr/>
        </p:nvSpPr>
        <p:spPr>
          <a:xfrm>
            <a:off x="4151326" y="2551456"/>
            <a:ext cx="327817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조회대상자의  ID(바코드번호) 및 이름을 입력해 주세요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3890320" y="327073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3840504" y="3801194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이름</a:t>
            </a:r>
            <a:endParaRPr/>
          </a:p>
        </p:txBody>
      </p:sp>
      <p:sp>
        <p:nvSpPr>
          <p:cNvPr id="339" name="Google Shape;339;p43"/>
          <p:cNvSpPr/>
          <p:nvPr/>
        </p:nvSpPr>
        <p:spPr>
          <a:xfrm>
            <a:off x="8443864" y="2908020"/>
            <a:ext cx="3408166" cy="1047061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검사자 들이 직접 검사 결과를 조회 하기 위해 로그인 하는 lookup 페이지</a:t>
            </a:r>
            <a:endParaRPr sz="11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/>
          <p:nvPr/>
        </p:nvSpPr>
        <p:spPr>
          <a:xfrm>
            <a:off x="3446585" y="764922"/>
            <a:ext cx="4545623" cy="4958870"/>
          </a:xfrm>
          <a:prstGeom prst="rect">
            <a:avLst/>
          </a:prstGeom>
          <a:noFill/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4"/>
          <p:cNvSpPr/>
          <p:nvPr/>
        </p:nvSpPr>
        <p:spPr>
          <a:xfrm>
            <a:off x="3898573" y="5103672"/>
            <a:ext cx="3681032" cy="362275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결과지 조회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4"/>
          <p:cNvSpPr txBox="1"/>
          <p:nvPr/>
        </p:nvSpPr>
        <p:spPr>
          <a:xfrm>
            <a:off x="3657604" y="1184532"/>
            <a:ext cx="401769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2000" b="1" dirty="0" err="1">
                <a:solidFill>
                  <a:srgbClr val="7F7F7F"/>
                </a:solidFill>
              </a:rPr>
              <a:t>암만성질환</a:t>
            </a:r>
            <a:r>
              <a:rPr lang="en-US" sz="2000" b="1" i="0" u="none" strike="noStrike" cap="none" dirty="0" smtClean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검사</a:t>
            </a:r>
            <a:r>
              <a:rPr lang="en-US" sz="2000" b="1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진행사항</a:t>
            </a:r>
            <a:r>
              <a:rPr lang="en-US" sz="2000" b="1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2000" b="1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4"/>
          <p:cNvSpPr/>
          <p:nvPr/>
        </p:nvSpPr>
        <p:spPr>
          <a:xfrm>
            <a:off x="3042478" y="5943590"/>
            <a:ext cx="564433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 내용 관련하여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궁금하신 사항은 아래의 이메일로 문의해주시기 바랍니다.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b="0" i="0" u="sng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분석결과가 없습니다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  </a:t>
            </a:r>
            <a:r>
              <a:rPr lang="en-US" sz="12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geneinfo@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hlscience.co.kr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Copyright ⓒ HL Science All Rights Reserved.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44"/>
          <p:cNvCxnSpPr/>
          <p:nvPr/>
        </p:nvCxnSpPr>
        <p:spPr>
          <a:xfrm>
            <a:off x="3910659" y="2106593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9" name="Google Shape;349;p44"/>
          <p:cNvCxnSpPr/>
          <p:nvPr/>
        </p:nvCxnSpPr>
        <p:spPr>
          <a:xfrm>
            <a:off x="3919623" y="2626547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0" name="Google Shape;350;p44"/>
          <p:cNvSpPr txBox="1"/>
          <p:nvPr/>
        </p:nvSpPr>
        <p:spPr>
          <a:xfrm>
            <a:off x="3890320" y="1767306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의뢰일자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3919632" y="2297762"/>
            <a:ext cx="33695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44"/>
          <p:cNvCxnSpPr/>
          <p:nvPr/>
        </p:nvCxnSpPr>
        <p:spPr>
          <a:xfrm>
            <a:off x="3931179" y="3129401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3" name="Google Shape;353;p44"/>
          <p:cNvCxnSpPr/>
          <p:nvPr/>
        </p:nvCxnSpPr>
        <p:spPr>
          <a:xfrm>
            <a:off x="3940143" y="3649355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44"/>
          <p:cNvSpPr txBox="1"/>
          <p:nvPr/>
        </p:nvSpPr>
        <p:spPr>
          <a:xfrm>
            <a:off x="3858088" y="2790114"/>
            <a:ext cx="6463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신청자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4"/>
          <p:cNvSpPr txBox="1"/>
          <p:nvPr/>
        </p:nvSpPr>
        <p:spPr>
          <a:xfrm>
            <a:off x="3861024" y="3320570"/>
            <a:ext cx="8002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진행사항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44"/>
          <p:cNvCxnSpPr/>
          <p:nvPr/>
        </p:nvCxnSpPr>
        <p:spPr>
          <a:xfrm>
            <a:off x="3942907" y="4117041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" name="Google Shape;357;p44"/>
          <p:cNvCxnSpPr/>
          <p:nvPr/>
        </p:nvCxnSpPr>
        <p:spPr>
          <a:xfrm>
            <a:off x="3951871" y="4636995"/>
            <a:ext cx="36030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8" name="Google Shape;358;p44"/>
          <p:cNvSpPr txBox="1"/>
          <p:nvPr/>
        </p:nvSpPr>
        <p:spPr>
          <a:xfrm>
            <a:off x="3869816" y="3777754"/>
            <a:ext cx="13163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예상결과 완료일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3872752" y="4308210"/>
            <a:ext cx="13163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실제결과 완료일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4"/>
          <p:cNvSpPr txBox="1"/>
          <p:nvPr/>
        </p:nvSpPr>
        <p:spPr>
          <a:xfrm>
            <a:off x="5583302" y="1765133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2023-02-10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5595030" y="2321965"/>
            <a:ext cx="10866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F1A308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 txBox="1"/>
          <p:nvPr/>
        </p:nvSpPr>
        <p:spPr>
          <a:xfrm>
            <a:off x="5615550" y="2826045"/>
            <a:ext cx="6206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유*현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 txBox="1"/>
          <p:nvPr/>
        </p:nvSpPr>
        <p:spPr>
          <a:xfrm>
            <a:off x="5600902" y="3330125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실험완료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4"/>
          <p:cNvSpPr txBox="1"/>
          <p:nvPr/>
        </p:nvSpPr>
        <p:spPr>
          <a:xfrm>
            <a:off x="5621422" y="3799037"/>
            <a:ext cx="10983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2023-02-22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4"/>
          <p:cNvSpPr txBox="1"/>
          <p:nvPr/>
        </p:nvSpPr>
        <p:spPr>
          <a:xfrm>
            <a:off x="5624358" y="4329493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2023-02-20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4"/>
          <p:cNvSpPr/>
          <p:nvPr/>
        </p:nvSpPr>
        <p:spPr>
          <a:xfrm>
            <a:off x="6681680" y="1852863"/>
            <a:ext cx="154342" cy="149900"/>
          </a:xfrm>
          <a:prstGeom prst="flowChartMerge">
            <a:avLst/>
          </a:prstGeom>
          <a:solidFill>
            <a:srgbClr val="BFBFBF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4"/>
          <p:cNvSpPr/>
          <p:nvPr/>
        </p:nvSpPr>
        <p:spPr>
          <a:xfrm>
            <a:off x="8443864" y="2908021"/>
            <a:ext cx="3408166" cy="869734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의뢰일자</a:t>
            </a:r>
            <a:r>
              <a:rPr lang="en-US" sz="1100" b="0" i="0" u="none" strike="noStrike" cap="none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 여러 번의 검사자가 가능 하므로 combobox 로 선택한 일자의 검사진행 사항이 조회된다</a:t>
            </a:r>
            <a:endParaRPr sz="11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8" name="Google Shape;368;p44"/>
          <p:cNvSpPr/>
          <p:nvPr/>
        </p:nvSpPr>
        <p:spPr>
          <a:xfrm>
            <a:off x="8347152" y="4896529"/>
            <a:ext cx="3504878" cy="1231709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실험결과가</a:t>
            </a:r>
            <a:r>
              <a:rPr lang="en-US" sz="11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없을</a:t>
            </a:r>
            <a:r>
              <a:rPr lang="en-US" sz="11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경우</a:t>
            </a:r>
            <a:r>
              <a:rPr lang="en-US" sz="1100" b="1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 “</a:t>
            </a:r>
            <a:r>
              <a:rPr lang="en-US" sz="1100" b="0" i="0" u="none" strike="noStrike" cap="none" dirty="0" err="1">
                <a:solidFill>
                  <a:srgbClr val="C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분석결과가</a:t>
            </a:r>
            <a:r>
              <a:rPr lang="en-US" sz="1100" b="0" i="0" u="none" strike="noStrike" cap="none" dirty="0">
                <a:solidFill>
                  <a:srgbClr val="C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C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없습니다</a:t>
            </a:r>
            <a:r>
              <a:rPr lang="en-US" sz="1100" b="0" i="0" u="none" strike="noStrike" cap="none" dirty="0">
                <a:solidFill>
                  <a:srgbClr val="C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”</a:t>
            </a:r>
            <a:endParaRPr sz="11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실험결과가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있을경우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: “위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내용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관련하여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”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문구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출력</a:t>
            </a:r>
            <a:endParaRPr sz="11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9" name="Google Shape;369;p44"/>
          <p:cNvSpPr/>
          <p:nvPr/>
        </p:nvSpPr>
        <p:spPr>
          <a:xfrm>
            <a:off x="8443864" y="2908020"/>
            <a:ext cx="3408166" cy="1047061"/>
          </a:xfrm>
          <a:prstGeom prst="roundRect">
            <a:avLst>
              <a:gd name="adj" fmla="val 2079"/>
            </a:avLst>
          </a:prstGeom>
          <a:solidFill>
            <a:srgbClr val="F2F2F2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4000" tIns="180000" rIns="324000" bIns="2743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-US" sz="1100" b="1" i="0" u="none" strike="noStrike" cap="none" dirty="0" err="1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의뢰일자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여러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번의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검사자가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가능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하므로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combobox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로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선택한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일자의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검사진행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사항이</a:t>
            </a:r>
            <a:r>
              <a:rPr lang="en-US" sz="1100" b="0" i="0" u="none" strike="noStrike" cap="none" dirty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en-US" sz="1100" b="0" i="0" u="none" strike="noStrike" cap="none" dirty="0" err="1" smtClean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조회된다</a:t>
            </a:r>
            <a:r>
              <a:rPr lang="en-US" sz="1100" dirty="0" smtClean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(</a:t>
            </a:r>
            <a:r>
              <a:rPr lang="ko-KR" altLang="en-US" sz="1100" dirty="0" err="1" smtClean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일자변경시</a:t>
            </a:r>
            <a:r>
              <a:rPr lang="ko-KR" altLang="en-US" sz="1100" dirty="0" smtClean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 </a:t>
            </a:r>
            <a:r>
              <a:rPr lang="ko-KR" altLang="en-US" sz="1100" dirty="0" err="1" smtClean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재조회</a:t>
            </a:r>
            <a:r>
              <a:rPr lang="en-US" altLang="ko-KR" sz="1100" dirty="0" smtClean="0">
                <a:solidFill>
                  <a:srgbClr val="5F5F5F"/>
                </a:solidFill>
                <a:latin typeface="+mn-ea"/>
                <a:ea typeface="+mn-ea"/>
                <a:cs typeface="Quattrocento Sans"/>
                <a:sym typeface="Quattrocento Sans"/>
              </a:rPr>
              <a:t>)</a:t>
            </a:r>
            <a:endParaRPr sz="1100" b="0" i="0" u="none" strike="noStrike" cap="none" dirty="0">
              <a:solidFill>
                <a:srgbClr val="5F5F5F"/>
              </a:solidFill>
              <a:latin typeface="+mn-ea"/>
              <a:ea typeface="+mn-ea"/>
              <a:cs typeface="Quattrocento Sans"/>
              <a:sym typeface="Quattrocento Sans"/>
            </a:endParaRPr>
          </a:p>
          <a:p>
            <a:pPr marL="171450" marR="0" lvl="0" indent="-101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70" name="Google Shape;370;p44"/>
          <p:cNvCxnSpPr/>
          <p:nvPr/>
        </p:nvCxnSpPr>
        <p:spPr>
          <a:xfrm rot="10800000" flipH="1">
            <a:off x="3963413" y="5553738"/>
            <a:ext cx="4406700" cy="5745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3A3838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525" cap="flat" cmpd="sng">
          <a:solidFill>
            <a:srgbClr val="808080"/>
          </a:solidFill>
          <a:prstDash val="solid"/>
          <a:miter lim="800000"/>
          <a:headEnd type="none" w="sm" len="sm"/>
          <a:tailEnd type="none" w="sm" len="sm"/>
        </a:ln>
      </a:spPr>
      <a:bodyPr spcFirstLastPara="1" wrap="square" lIns="100575" tIns="64000" rIns="100575" bIns="64000" anchor="ctr" anchorCtr="0">
        <a:spAutoFit/>
      </a:bodyPr>
      <a:lstStyle>
        <a:defPPr marL="0" marR="0" indent="0" algn="l" rtl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Pts val="1000"/>
          <a:buFont typeface="Arial"/>
          <a:buNone/>
          <a:defRPr sz="1000" b="0" i="0" u="none" strike="noStrike" cap="none">
            <a:solidFill>
              <a:srgbClr val="000000"/>
            </a:solidFill>
            <a:latin typeface="Arial"/>
            <a:ea typeface="Arial"/>
            <a:cs typeface="Arial"/>
            <a:sym typeface="Arial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1740</Words>
  <Application>Microsoft Office PowerPoint</Application>
  <PresentationFormat>와이드스크린</PresentationFormat>
  <Paragraphs>859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Quattrocento Sans</vt:lpstr>
      <vt:lpstr>Noto Sans Symbols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Haeyoung</dc:creator>
  <cp:lastModifiedBy>knutkim</cp:lastModifiedBy>
  <cp:revision>108</cp:revision>
  <dcterms:created xsi:type="dcterms:W3CDTF">2020-11-10T23:39:51Z</dcterms:created>
  <dcterms:modified xsi:type="dcterms:W3CDTF">2026-09-20T01:19:18Z</dcterms:modified>
</cp:coreProperties>
</file>